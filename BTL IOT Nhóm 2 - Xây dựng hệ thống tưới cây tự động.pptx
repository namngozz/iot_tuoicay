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65" r:id="rId3"/>
    <p:sldId id="267" r:id="rId4"/>
    <p:sldId id="266" r:id="rId5"/>
    <p:sldId id="268" r:id="rId6"/>
    <p:sldId id="269" r:id="rId7"/>
    <p:sldId id="274" r:id="rId8"/>
    <p:sldId id="273" r:id="rId9"/>
    <p:sldId id="276" r:id="rId10"/>
    <p:sldId id="277" r:id="rId11"/>
    <p:sldId id="278" r:id="rId12"/>
    <p:sldId id="279" r:id="rId13"/>
    <p:sldId id="281" r:id="rId14"/>
    <p:sldId id="280" r:id="rId15"/>
    <p:sldId id="284" r:id="rId16"/>
    <p:sldId id="285" r:id="rId17"/>
    <p:sldId id="286" r:id="rId18"/>
    <p:sldId id="287" r:id="rId19"/>
    <p:sldId id="282" r:id="rId20"/>
    <p:sldId id="288" r:id="rId21"/>
    <p:sldId id="289" r:id="rId22"/>
    <p:sldId id="290" r:id="rId23"/>
    <p:sldId id="291" r:id="rId24"/>
    <p:sldId id="292" r:id="rId25"/>
    <p:sldId id="293" r:id="rId26"/>
    <p:sldId id="294" r:id="rId27"/>
    <p:sldId id="295" r:id="rId28"/>
    <p:sldId id="296" r:id="rId29"/>
    <p:sldId id="297" r:id="rId3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09" autoAdjust="0"/>
    <p:restoredTop sz="94660"/>
  </p:normalViewPr>
  <p:slideViewPr>
    <p:cSldViewPr snapToGrid="0">
      <p:cViewPr varScale="1">
        <p:scale>
          <a:sx n="78" d="100"/>
          <a:sy n="78" d="100"/>
        </p:scale>
        <p:origin x="18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F095-3264-40E2-99F4-4457BA5CE705}" type="datetimeFigureOut">
              <a:rPr lang="vi-VN" smtClean="0"/>
              <a:t>23/12/2025</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9069C-64EB-4657-9FDC-FFCA6E6BD412}" type="slidenum">
              <a:rPr lang="vi-VN" smtClean="0"/>
              <a:t>‹#›</a:t>
            </a:fld>
            <a:endParaRPr lang="vi-VN"/>
          </a:p>
        </p:txBody>
      </p:sp>
    </p:spTree>
    <p:extLst>
      <p:ext uri="{BB962C8B-B14F-4D97-AF65-F5344CB8AC3E}">
        <p14:creationId xmlns:p14="http://schemas.microsoft.com/office/powerpoint/2010/main" val="260338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5"/>
          </p:nvPr>
        </p:nvSpPr>
        <p:spPr/>
        <p:txBody>
          <a:bodyPr/>
          <a:lstStyle/>
          <a:p>
            <a:fld id="{4779069C-64EB-4657-9FDC-FFCA6E6BD412}" type="slidenum">
              <a:rPr lang="vi-VN" smtClean="0"/>
              <a:t>24</a:t>
            </a:fld>
            <a:endParaRPr lang="vi-VN"/>
          </a:p>
        </p:txBody>
      </p:sp>
    </p:spTree>
    <p:extLst>
      <p:ext uri="{BB962C8B-B14F-4D97-AF65-F5344CB8AC3E}">
        <p14:creationId xmlns:p14="http://schemas.microsoft.com/office/powerpoint/2010/main" val="3617250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EEEC9-CC25-3993-8D87-9D4CC8D510B4}"/>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61B6A35F-70A5-117C-F08E-303C101E4352}"/>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9194E49E-4EA9-2C76-83B4-B8D1B016BF9F}"/>
              </a:ext>
            </a:extLst>
          </p:cNvPr>
          <p:cNvSpPr>
            <a:spLocks noGrp="1"/>
          </p:cNvSpPr>
          <p:nvPr>
            <p:ph type="body" idx="1"/>
          </p:nvPr>
        </p:nvSpPr>
        <p:spPr/>
        <p:txBody>
          <a:bodyPr/>
          <a:lstStyle/>
          <a:p>
            <a:endParaRPr lang="vi-VN" dirty="0"/>
          </a:p>
        </p:txBody>
      </p:sp>
      <p:sp>
        <p:nvSpPr>
          <p:cNvPr id="4" name="Chỗ dành sẵn cho Số hiệu Bản chiếu 3">
            <a:extLst>
              <a:ext uri="{FF2B5EF4-FFF2-40B4-BE49-F238E27FC236}">
                <a16:creationId xmlns:a16="http://schemas.microsoft.com/office/drawing/2014/main" id="{9C4A20E0-7FB1-7103-AA1F-2DB603E06798}"/>
              </a:ext>
            </a:extLst>
          </p:cNvPr>
          <p:cNvSpPr>
            <a:spLocks noGrp="1"/>
          </p:cNvSpPr>
          <p:nvPr>
            <p:ph type="sldNum" sz="quarter" idx="5"/>
          </p:nvPr>
        </p:nvSpPr>
        <p:spPr/>
        <p:txBody>
          <a:bodyPr/>
          <a:lstStyle/>
          <a:p>
            <a:fld id="{4779069C-64EB-4657-9FDC-FFCA6E6BD412}" type="slidenum">
              <a:rPr lang="vi-VN" smtClean="0"/>
              <a:t>25</a:t>
            </a:fld>
            <a:endParaRPr lang="vi-VN"/>
          </a:p>
        </p:txBody>
      </p:sp>
    </p:spTree>
    <p:extLst>
      <p:ext uri="{BB962C8B-B14F-4D97-AF65-F5344CB8AC3E}">
        <p14:creationId xmlns:p14="http://schemas.microsoft.com/office/powerpoint/2010/main" val="121617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0A367-19FB-F332-A0E1-AAC6EC899BB4}"/>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4FDA78D9-3925-AFD0-92CE-7958A69EC6EC}"/>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C6B98C33-ED43-AC4E-8AC1-572635A5697E}"/>
              </a:ext>
            </a:extLst>
          </p:cNvPr>
          <p:cNvSpPr>
            <a:spLocks noGrp="1"/>
          </p:cNvSpPr>
          <p:nvPr>
            <p:ph type="body" idx="1"/>
          </p:nvPr>
        </p:nvSpPr>
        <p:spPr/>
        <p:txBody>
          <a:bodyPr/>
          <a:lstStyle/>
          <a:p>
            <a:endParaRPr lang="vi-VN" dirty="0"/>
          </a:p>
        </p:txBody>
      </p:sp>
      <p:sp>
        <p:nvSpPr>
          <p:cNvPr id="4" name="Chỗ dành sẵn cho Số hiệu Bản chiếu 3">
            <a:extLst>
              <a:ext uri="{FF2B5EF4-FFF2-40B4-BE49-F238E27FC236}">
                <a16:creationId xmlns:a16="http://schemas.microsoft.com/office/drawing/2014/main" id="{EC36A09D-7327-E67B-3191-23AC6FAF2A4F}"/>
              </a:ext>
            </a:extLst>
          </p:cNvPr>
          <p:cNvSpPr>
            <a:spLocks noGrp="1"/>
          </p:cNvSpPr>
          <p:nvPr>
            <p:ph type="sldNum" sz="quarter" idx="5"/>
          </p:nvPr>
        </p:nvSpPr>
        <p:spPr/>
        <p:txBody>
          <a:bodyPr/>
          <a:lstStyle/>
          <a:p>
            <a:fld id="{4779069C-64EB-4657-9FDC-FFCA6E6BD412}" type="slidenum">
              <a:rPr lang="vi-VN" smtClean="0"/>
              <a:t>26</a:t>
            </a:fld>
            <a:endParaRPr lang="vi-VN"/>
          </a:p>
        </p:txBody>
      </p:sp>
    </p:spTree>
    <p:extLst>
      <p:ext uri="{BB962C8B-B14F-4D97-AF65-F5344CB8AC3E}">
        <p14:creationId xmlns:p14="http://schemas.microsoft.com/office/powerpoint/2010/main" val="371994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C7E6-3228-BE9C-A4E4-AC09D141DD91}"/>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7D8678B1-33FB-6B81-66F0-B0CA2934B2F3}"/>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CBAFCA2D-649D-2CA7-D636-7B697634DA5D}"/>
              </a:ext>
            </a:extLst>
          </p:cNvPr>
          <p:cNvSpPr>
            <a:spLocks noGrp="1"/>
          </p:cNvSpPr>
          <p:nvPr>
            <p:ph type="body" idx="1"/>
          </p:nvPr>
        </p:nvSpPr>
        <p:spPr/>
        <p:txBody>
          <a:bodyPr/>
          <a:lstStyle/>
          <a:p>
            <a:endParaRPr lang="vi-VN" dirty="0"/>
          </a:p>
        </p:txBody>
      </p:sp>
      <p:sp>
        <p:nvSpPr>
          <p:cNvPr id="4" name="Chỗ dành sẵn cho Số hiệu Bản chiếu 3">
            <a:extLst>
              <a:ext uri="{FF2B5EF4-FFF2-40B4-BE49-F238E27FC236}">
                <a16:creationId xmlns:a16="http://schemas.microsoft.com/office/drawing/2014/main" id="{89A94BE5-F6D8-C302-AD27-275B6DF0C8D2}"/>
              </a:ext>
            </a:extLst>
          </p:cNvPr>
          <p:cNvSpPr>
            <a:spLocks noGrp="1"/>
          </p:cNvSpPr>
          <p:nvPr>
            <p:ph type="sldNum" sz="quarter" idx="5"/>
          </p:nvPr>
        </p:nvSpPr>
        <p:spPr/>
        <p:txBody>
          <a:bodyPr/>
          <a:lstStyle/>
          <a:p>
            <a:fld id="{4779069C-64EB-4657-9FDC-FFCA6E6BD412}" type="slidenum">
              <a:rPr lang="vi-VN" smtClean="0"/>
              <a:t>27</a:t>
            </a:fld>
            <a:endParaRPr lang="vi-VN"/>
          </a:p>
        </p:txBody>
      </p:sp>
    </p:spTree>
    <p:extLst>
      <p:ext uri="{BB962C8B-B14F-4D97-AF65-F5344CB8AC3E}">
        <p14:creationId xmlns:p14="http://schemas.microsoft.com/office/powerpoint/2010/main" val="1748175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4AE1-4D88-A7B0-FBD7-0A47650F21CC}"/>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743AE46C-3FBB-348C-ADF9-795F6DD06A86}"/>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1AF37780-8D02-2067-48EF-EB6A2D46D0C9}"/>
              </a:ext>
            </a:extLst>
          </p:cNvPr>
          <p:cNvSpPr>
            <a:spLocks noGrp="1"/>
          </p:cNvSpPr>
          <p:nvPr>
            <p:ph type="body" idx="1"/>
          </p:nvPr>
        </p:nvSpPr>
        <p:spPr/>
        <p:txBody>
          <a:bodyPr/>
          <a:lstStyle/>
          <a:p>
            <a:endParaRPr lang="vi-VN" dirty="0"/>
          </a:p>
        </p:txBody>
      </p:sp>
      <p:sp>
        <p:nvSpPr>
          <p:cNvPr id="4" name="Chỗ dành sẵn cho Số hiệu Bản chiếu 3">
            <a:extLst>
              <a:ext uri="{FF2B5EF4-FFF2-40B4-BE49-F238E27FC236}">
                <a16:creationId xmlns:a16="http://schemas.microsoft.com/office/drawing/2014/main" id="{17B40AAD-D733-C9F1-E90E-8E472E4D3106}"/>
              </a:ext>
            </a:extLst>
          </p:cNvPr>
          <p:cNvSpPr>
            <a:spLocks noGrp="1"/>
          </p:cNvSpPr>
          <p:nvPr>
            <p:ph type="sldNum" sz="quarter" idx="5"/>
          </p:nvPr>
        </p:nvSpPr>
        <p:spPr/>
        <p:txBody>
          <a:bodyPr/>
          <a:lstStyle/>
          <a:p>
            <a:fld id="{4779069C-64EB-4657-9FDC-FFCA6E6BD412}" type="slidenum">
              <a:rPr lang="vi-VN" smtClean="0"/>
              <a:t>28</a:t>
            </a:fld>
            <a:endParaRPr lang="vi-VN"/>
          </a:p>
        </p:txBody>
      </p:sp>
    </p:spTree>
    <p:extLst>
      <p:ext uri="{BB962C8B-B14F-4D97-AF65-F5344CB8AC3E}">
        <p14:creationId xmlns:p14="http://schemas.microsoft.com/office/powerpoint/2010/main" val="3326020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59310-FB82-CA75-311D-DDEA7C8F8953}"/>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D3F604F4-F30D-163F-012F-586AD659CE60}"/>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82FA4AFC-9EB5-5D86-60C6-BE7DF64BA16C}"/>
              </a:ext>
            </a:extLst>
          </p:cNvPr>
          <p:cNvSpPr>
            <a:spLocks noGrp="1"/>
          </p:cNvSpPr>
          <p:nvPr>
            <p:ph type="body" idx="1"/>
          </p:nvPr>
        </p:nvSpPr>
        <p:spPr/>
        <p:txBody>
          <a:bodyPr/>
          <a:lstStyle/>
          <a:p>
            <a:endParaRPr lang="vi-VN" dirty="0"/>
          </a:p>
        </p:txBody>
      </p:sp>
      <p:sp>
        <p:nvSpPr>
          <p:cNvPr id="4" name="Chỗ dành sẵn cho Số hiệu Bản chiếu 3">
            <a:extLst>
              <a:ext uri="{FF2B5EF4-FFF2-40B4-BE49-F238E27FC236}">
                <a16:creationId xmlns:a16="http://schemas.microsoft.com/office/drawing/2014/main" id="{6DB1B81E-5AFE-AE2F-F0F3-EA556FE793ED}"/>
              </a:ext>
            </a:extLst>
          </p:cNvPr>
          <p:cNvSpPr>
            <a:spLocks noGrp="1"/>
          </p:cNvSpPr>
          <p:nvPr>
            <p:ph type="sldNum" sz="quarter" idx="5"/>
          </p:nvPr>
        </p:nvSpPr>
        <p:spPr/>
        <p:txBody>
          <a:bodyPr/>
          <a:lstStyle/>
          <a:p>
            <a:fld id="{4779069C-64EB-4657-9FDC-FFCA6E6BD412}" type="slidenum">
              <a:rPr lang="vi-VN" smtClean="0"/>
              <a:t>29</a:t>
            </a:fld>
            <a:endParaRPr lang="vi-VN"/>
          </a:p>
        </p:txBody>
      </p:sp>
    </p:spTree>
    <p:extLst>
      <p:ext uri="{BB962C8B-B14F-4D97-AF65-F5344CB8AC3E}">
        <p14:creationId xmlns:p14="http://schemas.microsoft.com/office/powerpoint/2010/main" val="327674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4C772BD-C70C-A092-243A-6F702C3263C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7AC06E53-0391-1727-B6E2-BA99ADE65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D902B1C3-2D79-ADFF-1BBE-68AD9DADC4C4}"/>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C969B12A-0174-750C-EA20-C52E2BC7A411}"/>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28474F77-3F90-BEE2-0312-99AB2EA201C6}"/>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1570118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4CE58FC-B2FF-C5D9-3F24-EE671338DBFE}"/>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53D6ED7B-77F7-45BE-AB4D-676B788C9641}"/>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929701F7-099E-27D3-8539-0EF510883EA1}"/>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9B53FFF2-F698-5E08-5CAD-E9E6DA28A46F}"/>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885FA010-984E-5CEA-230B-EDFEA568AE2E}"/>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209954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76506D2-7F03-5B56-8A10-58A46270C949}"/>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4066D47A-3BFA-660E-7E4B-B9F09C6E92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44EDB557-ED0A-2227-1DC0-164EADEFFDD9}"/>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B7633B26-18F4-F4D0-7401-AB05DB7F3A6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88545FA7-17E6-0314-5936-EFA5BA5AE31C}"/>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1252857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823DA3F-9713-C3C8-86F3-CA4B6FD15A7F}"/>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51C1A4D9-E284-0361-716B-D9B490752D2A}"/>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DA8F55CA-BA90-3EFF-321B-146A9D18EFDE}"/>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A40ABD48-807A-8EFA-DF67-95AC0F58B91A}"/>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6" name="Chỗ dành sẵn cho Chân trang 5">
            <a:extLst>
              <a:ext uri="{FF2B5EF4-FFF2-40B4-BE49-F238E27FC236}">
                <a16:creationId xmlns:a16="http://schemas.microsoft.com/office/drawing/2014/main" id="{FEAA529E-71EC-1BF9-1828-F9D2AA2002FA}"/>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D42FE573-400E-324E-5991-5A3E744ECA1E}"/>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148437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DA31476-1629-A9B3-94C8-D7F68A54DADB}"/>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E8BB3EC4-AD41-3F4B-1F45-DC1535EC67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7AA15258-FBDB-6901-24F4-283ED584A757}"/>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901ED4D0-4D51-D258-D536-80923AD00A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5BE98A58-9BF1-1972-6BF1-B40485EB2AEB}"/>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193A5DA2-CD99-AC85-2D55-7ECCF9AAD8FA}"/>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8" name="Chỗ dành sẵn cho Chân trang 7">
            <a:extLst>
              <a:ext uri="{FF2B5EF4-FFF2-40B4-BE49-F238E27FC236}">
                <a16:creationId xmlns:a16="http://schemas.microsoft.com/office/drawing/2014/main" id="{3EB587D3-80C1-149D-1F7F-74AF4BF74C41}"/>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A2B9754C-7F0C-70B9-5B9B-1CE092AE79A1}"/>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201698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20C6C45-D883-420D-0C47-2CCE3120B4AE}"/>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9E92AC6B-B979-710C-ABE4-282A744F3D36}"/>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4" name="Chỗ dành sẵn cho Chân trang 3">
            <a:extLst>
              <a:ext uri="{FF2B5EF4-FFF2-40B4-BE49-F238E27FC236}">
                <a16:creationId xmlns:a16="http://schemas.microsoft.com/office/drawing/2014/main" id="{6462EFBC-36C9-5C26-D025-4FC01DF0105B}"/>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CA02863E-FFFF-1B79-6BD0-97A4CE80887B}"/>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3169485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02BA0B40-B323-9972-E423-1C1E43EA0129}"/>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3" name="Chỗ dành sẵn cho Chân trang 2">
            <a:extLst>
              <a:ext uri="{FF2B5EF4-FFF2-40B4-BE49-F238E27FC236}">
                <a16:creationId xmlns:a16="http://schemas.microsoft.com/office/drawing/2014/main" id="{40FB5B0A-9C97-8ADD-06D4-75DACB250D2C}"/>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07DC0E0B-B5CF-EAF6-F9BE-506EC2870AD2}"/>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686887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DF49946-8C6B-1679-86E4-F7323E29F955}"/>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DCBD9F39-F5F0-2EE0-9E18-46EC4E34EF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4E87A081-1977-1346-8CFC-96F4116DF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B4A52E5-3A62-7ED5-98C3-10E9F867AF58}"/>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6" name="Chỗ dành sẵn cho Chân trang 5">
            <a:extLst>
              <a:ext uri="{FF2B5EF4-FFF2-40B4-BE49-F238E27FC236}">
                <a16:creationId xmlns:a16="http://schemas.microsoft.com/office/drawing/2014/main" id="{A51A63DB-BF1A-5EE6-97F7-9AE839C18864}"/>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B4EC8085-DC2E-78A3-F6A7-062F761BE45B}"/>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506220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2ED0B6A-A5AA-5B30-D30F-C11F14F24C50}"/>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D58C455A-DB1D-5BE0-F6B0-98A6DD95FE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3A8A0347-08AC-AAF4-0B18-F67C277AD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FE5967C6-E6C9-800F-FB63-996A81FE10A3}"/>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6" name="Chỗ dành sẵn cho Chân trang 5">
            <a:extLst>
              <a:ext uri="{FF2B5EF4-FFF2-40B4-BE49-F238E27FC236}">
                <a16:creationId xmlns:a16="http://schemas.microsoft.com/office/drawing/2014/main" id="{06B038EC-78D4-58BA-3A18-D182162E32F7}"/>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AB51840C-BFE8-2FA3-16FB-DA83E045C255}"/>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421587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7C31FD1-E9FC-665F-9391-EE209724D4E9}"/>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C2923DAE-87D2-DF9A-E7A4-836031B9C658}"/>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FCB5751B-0DF3-D9DC-BF78-E3AA30CCCE11}"/>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5B6D9536-DFAB-A503-ED6C-44CBD6C3E0FC}"/>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778FC73F-9D1C-FA90-E1AD-D12BFFFC073F}"/>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245674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E10CB1D8-8E3C-0AE1-1C67-9E86E533D654}"/>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EA351334-092F-A1C0-ECD3-C7DFB6AAF3A9}"/>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1EC0BB56-BACD-A2F9-3C63-BA3A166D8250}"/>
              </a:ext>
            </a:extLst>
          </p:cNvPr>
          <p:cNvSpPr>
            <a:spLocks noGrp="1"/>
          </p:cNvSpPr>
          <p:nvPr>
            <p:ph type="dt" sz="half" idx="10"/>
          </p:nvPr>
        </p:nvSpPr>
        <p:spPr/>
        <p:txBody>
          <a:body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41D4CC5A-60C2-DACE-1000-8A49FC51653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68F22E2A-DBED-380F-9E5E-146C95A85D51}"/>
              </a:ext>
            </a:extLst>
          </p:cNvPr>
          <p:cNvSpPr>
            <a:spLocks noGrp="1"/>
          </p:cNvSpPr>
          <p:nvPr>
            <p:ph type="sldNum" sz="quarter" idx="12"/>
          </p:nvPr>
        </p:nvSpPr>
        <p:spPr/>
        <p:txBody>
          <a:bodyPr/>
          <a:lstStyle/>
          <a:p>
            <a:fld id="{B217D072-5740-43C4-BFF8-AA7953B5C399}" type="slidenum">
              <a:rPr lang="vi-VN" smtClean="0"/>
              <a:t>‹#›</a:t>
            </a:fld>
            <a:endParaRPr lang="vi-VN"/>
          </a:p>
        </p:txBody>
      </p:sp>
    </p:spTree>
    <p:extLst>
      <p:ext uri="{BB962C8B-B14F-4D97-AF65-F5344CB8AC3E}">
        <p14:creationId xmlns:p14="http://schemas.microsoft.com/office/powerpoint/2010/main" val="334035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40BEA07B-9E77-B288-8546-FE402510B0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92E10756-842E-1680-0019-BC56CF516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BEFC33F7-D75D-4C10-2AD8-2671465B0E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15454-A4B8-4AED-AB18-2AB196287775}" type="datetimeFigureOut">
              <a:rPr lang="vi-VN" smtClean="0"/>
              <a:t>23/12/2025</a:t>
            </a:fld>
            <a:endParaRPr lang="vi-VN"/>
          </a:p>
        </p:txBody>
      </p:sp>
      <p:sp>
        <p:nvSpPr>
          <p:cNvPr id="5" name="Chỗ dành sẵn cho Chân trang 4">
            <a:extLst>
              <a:ext uri="{FF2B5EF4-FFF2-40B4-BE49-F238E27FC236}">
                <a16:creationId xmlns:a16="http://schemas.microsoft.com/office/drawing/2014/main" id="{005225B6-C1F2-85FA-7A8C-F8250F83C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EF085394-313E-2D4C-1248-AB837EC2B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7D072-5740-43C4-BFF8-AA7953B5C399}" type="slidenum">
              <a:rPr lang="vi-VN" smtClean="0"/>
              <a:t>‹#›</a:t>
            </a:fld>
            <a:endParaRPr lang="vi-VN"/>
          </a:p>
        </p:txBody>
      </p:sp>
    </p:spTree>
    <p:extLst>
      <p:ext uri="{BB962C8B-B14F-4D97-AF65-F5344CB8AC3E}">
        <p14:creationId xmlns:p14="http://schemas.microsoft.com/office/powerpoint/2010/main" val="766147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jpe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D0A1095-0B45-DB5F-370E-1A8B24D6F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4" y="0"/>
            <a:ext cx="5591176"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56450ACF-DD45-945F-2AC3-EFC03AA8CAA1}"/>
              </a:ext>
            </a:extLst>
          </p:cNvPr>
          <p:cNvSpPr txBox="1"/>
          <p:nvPr/>
        </p:nvSpPr>
        <p:spPr>
          <a:xfrm>
            <a:off x="247768" y="71845"/>
            <a:ext cx="6122551" cy="1676934"/>
          </a:xfrm>
          <a:prstGeom prst="rect">
            <a:avLst/>
          </a:prstGeom>
        </p:spPr>
        <p:txBody>
          <a:bodyPr wrap="square" lIns="0" tIns="0" rIns="0" bIns="0" rtlCol="0" anchor="t">
            <a:spAutoFit/>
          </a:bodyPr>
          <a:lstStyle/>
          <a:p>
            <a:pPr algn="ctr">
              <a:lnSpc>
                <a:spcPts val="6937"/>
              </a:lnSpc>
            </a:pPr>
            <a:r>
              <a:rPr lang="vi-VN" sz="44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44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3392EDB6-3FF5-D95C-C78D-3D1E3C07AB7C}"/>
              </a:ext>
            </a:extLst>
          </p:cNvPr>
          <p:cNvSpPr txBox="1"/>
          <p:nvPr/>
        </p:nvSpPr>
        <p:spPr>
          <a:xfrm>
            <a:off x="546689" y="2023099"/>
            <a:ext cx="6964877" cy="584775"/>
          </a:xfrm>
          <a:prstGeom prst="rect">
            <a:avLst/>
          </a:prstGeom>
          <a:noFill/>
        </p:spPr>
        <p:txBody>
          <a:bodyPr wrap="square" rtlCol="0">
            <a:spAutoFit/>
          </a:bodyPr>
          <a:lstStyle/>
          <a:p>
            <a:r>
              <a:rPr lang="vi-VN" sz="3200" dirty="0">
                <a:solidFill>
                  <a:schemeClr val="bg1"/>
                </a:solidFill>
                <a:latin typeface="Arial Bold" panose="020B0704020202020204" pitchFamily="34" charset="0"/>
                <a:cs typeface="Arial Bold" panose="020B0704020202020204" pitchFamily="34" charset="0"/>
              </a:rPr>
              <a:t>Học Phần: </a:t>
            </a:r>
            <a:r>
              <a:rPr lang="vi-VN" sz="3200" dirty="0" err="1">
                <a:solidFill>
                  <a:schemeClr val="bg1"/>
                </a:solidFill>
                <a:latin typeface="Arial Bold" panose="020B0704020202020204" pitchFamily="34" charset="0"/>
                <a:cs typeface="Arial Bold" panose="020B0704020202020204" pitchFamily="34" charset="0"/>
              </a:rPr>
              <a:t>Internet</a:t>
            </a:r>
            <a:r>
              <a:rPr lang="vi-VN" sz="3200" dirty="0">
                <a:solidFill>
                  <a:schemeClr val="bg1"/>
                </a:solidFill>
                <a:latin typeface="Arial Bold" panose="020B0704020202020204" pitchFamily="34" charset="0"/>
                <a:cs typeface="Arial Bold" panose="020B0704020202020204" pitchFamily="34" charset="0"/>
              </a:rPr>
              <a:t> </a:t>
            </a:r>
            <a:r>
              <a:rPr lang="vi-VN" sz="3200" dirty="0" err="1">
                <a:solidFill>
                  <a:schemeClr val="bg1"/>
                </a:solidFill>
                <a:latin typeface="Arial Bold" panose="020B0704020202020204" pitchFamily="34" charset="0"/>
                <a:cs typeface="Arial Bold" panose="020B0704020202020204" pitchFamily="34" charset="0"/>
              </a:rPr>
              <a:t>Of</a:t>
            </a:r>
            <a:r>
              <a:rPr lang="vi-VN" sz="3200" dirty="0">
                <a:solidFill>
                  <a:schemeClr val="bg1"/>
                </a:solidFill>
                <a:latin typeface="Arial Bold" panose="020B0704020202020204" pitchFamily="34" charset="0"/>
                <a:cs typeface="Arial Bold" panose="020B0704020202020204" pitchFamily="34" charset="0"/>
              </a:rPr>
              <a:t> </a:t>
            </a:r>
            <a:r>
              <a:rPr lang="vi-VN" sz="3200" dirty="0" err="1">
                <a:solidFill>
                  <a:schemeClr val="bg1"/>
                </a:solidFill>
                <a:latin typeface="Arial Bold" panose="020B0704020202020204" pitchFamily="34" charset="0"/>
                <a:cs typeface="Arial Bold" panose="020B0704020202020204" pitchFamily="34" charset="0"/>
              </a:rPr>
              <a:t>Things</a:t>
            </a:r>
            <a:endParaRPr lang="vi-VN" sz="3200" dirty="0">
              <a:solidFill>
                <a:schemeClr val="bg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3834491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4ED8F-76C6-D9CD-491B-9DA9D65ECDA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FA6C790-5A3D-D901-B004-324C04C2A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4" y="0"/>
            <a:ext cx="5591176"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08F2B95E-7D65-D410-533D-7D673D078C0D}"/>
              </a:ext>
            </a:extLst>
          </p:cNvPr>
          <p:cNvSpPr txBox="1"/>
          <p:nvPr/>
        </p:nvSpPr>
        <p:spPr>
          <a:xfrm>
            <a:off x="247768" y="71845"/>
            <a:ext cx="6122551" cy="1676934"/>
          </a:xfrm>
          <a:prstGeom prst="rect">
            <a:avLst/>
          </a:prstGeom>
        </p:spPr>
        <p:txBody>
          <a:bodyPr wrap="square" lIns="0" tIns="0" rIns="0" bIns="0" rtlCol="0" anchor="t">
            <a:spAutoFit/>
          </a:bodyPr>
          <a:lstStyle/>
          <a:p>
            <a:pPr algn="ctr">
              <a:lnSpc>
                <a:spcPts val="6937"/>
              </a:lnSpc>
            </a:pPr>
            <a:r>
              <a:rPr lang="vi-VN" sz="44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44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7143BF2E-3106-E9A1-5BDC-3A47773BA7C5}"/>
              </a:ext>
            </a:extLst>
          </p:cNvPr>
          <p:cNvSpPr txBox="1"/>
          <p:nvPr/>
        </p:nvSpPr>
        <p:spPr>
          <a:xfrm>
            <a:off x="404449" y="1870699"/>
            <a:ext cx="6964877" cy="584775"/>
          </a:xfrm>
          <a:prstGeom prst="rect">
            <a:avLst/>
          </a:prstGeom>
          <a:noFill/>
        </p:spPr>
        <p:txBody>
          <a:bodyPr wrap="square" rtlCol="0">
            <a:spAutoFit/>
          </a:bodyPr>
          <a:lstStyle/>
          <a:p>
            <a:r>
              <a:rPr lang="vi-VN" sz="3200" dirty="0">
                <a:solidFill>
                  <a:schemeClr val="bg1"/>
                </a:solidFill>
                <a:latin typeface="Arial Bold" panose="020B0704020202020204" pitchFamily="34" charset="0"/>
                <a:cs typeface="Arial Bold" panose="020B0704020202020204" pitchFamily="34" charset="0"/>
              </a:rPr>
              <a:t>Học Phần: </a:t>
            </a:r>
            <a:r>
              <a:rPr lang="vi-VN" sz="3200" dirty="0" err="1">
                <a:solidFill>
                  <a:schemeClr val="bg1"/>
                </a:solidFill>
                <a:latin typeface="Arial Bold" panose="020B0704020202020204" pitchFamily="34" charset="0"/>
                <a:cs typeface="Arial Bold" panose="020B0704020202020204" pitchFamily="34" charset="0"/>
              </a:rPr>
              <a:t>Internet</a:t>
            </a:r>
            <a:r>
              <a:rPr lang="vi-VN" sz="3200" dirty="0">
                <a:solidFill>
                  <a:schemeClr val="bg1"/>
                </a:solidFill>
                <a:latin typeface="Arial Bold" panose="020B0704020202020204" pitchFamily="34" charset="0"/>
                <a:cs typeface="Arial Bold" panose="020B0704020202020204" pitchFamily="34" charset="0"/>
              </a:rPr>
              <a:t> </a:t>
            </a:r>
            <a:r>
              <a:rPr lang="vi-VN" sz="3200" dirty="0" err="1">
                <a:solidFill>
                  <a:schemeClr val="bg1"/>
                </a:solidFill>
                <a:latin typeface="Arial Bold" panose="020B0704020202020204" pitchFamily="34" charset="0"/>
                <a:cs typeface="Arial Bold" panose="020B0704020202020204" pitchFamily="34" charset="0"/>
              </a:rPr>
              <a:t>Of</a:t>
            </a:r>
            <a:r>
              <a:rPr lang="vi-VN" sz="3200" dirty="0">
                <a:solidFill>
                  <a:schemeClr val="bg1"/>
                </a:solidFill>
                <a:latin typeface="Arial Bold" panose="020B0704020202020204" pitchFamily="34" charset="0"/>
                <a:cs typeface="Arial Bold" panose="020B0704020202020204" pitchFamily="34" charset="0"/>
              </a:rPr>
              <a:t> </a:t>
            </a:r>
            <a:r>
              <a:rPr lang="vi-VN" sz="3200" dirty="0" err="1">
                <a:solidFill>
                  <a:schemeClr val="bg1"/>
                </a:solidFill>
                <a:latin typeface="Arial Bold" panose="020B0704020202020204" pitchFamily="34" charset="0"/>
                <a:cs typeface="Arial Bold" panose="020B0704020202020204" pitchFamily="34" charset="0"/>
              </a:rPr>
              <a:t>Things</a:t>
            </a:r>
            <a:endParaRPr lang="vi-VN" sz="32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55A068E4-857A-AD1A-EB4C-D47D00BD54ED}"/>
              </a:ext>
            </a:extLst>
          </p:cNvPr>
          <p:cNvSpPr txBox="1"/>
          <p:nvPr/>
        </p:nvSpPr>
        <p:spPr>
          <a:xfrm>
            <a:off x="247768" y="34290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640C0E1A-D2E8-ED1F-C9DF-FBA6DFD027E5}"/>
              </a:ext>
            </a:extLst>
          </p:cNvPr>
          <p:cNvSpPr txBox="1"/>
          <p:nvPr/>
        </p:nvSpPr>
        <p:spPr>
          <a:xfrm>
            <a:off x="1767840" y="2778638"/>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7259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FA7B-6858-2EBF-64B1-37673424A63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8257062-1EA2-6AF3-E328-7B481534EF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960" y="0"/>
            <a:ext cx="451104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542504E3-1916-702C-6C99-A260A0544FF6}"/>
              </a:ext>
            </a:extLst>
          </p:cNvPr>
          <p:cNvSpPr txBox="1"/>
          <p:nvPr/>
        </p:nvSpPr>
        <p:spPr>
          <a:xfrm>
            <a:off x="796408" y="-282907"/>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83E886B9-8494-A702-6F88-376D320DAB53}"/>
              </a:ext>
            </a:extLst>
          </p:cNvPr>
          <p:cNvSpPr txBox="1"/>
          <p:nvPr/>
        </p:nvSpPr>
        <p:spPr>
          <a:xfrm>
            <a:off x="1275767" y="462490"/>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0ABE86D5-211B-2831-2644-B3CD850B9BAA}"/>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2AC5669C-57A9-BD60-706E-A40005D1894F}"/>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6FC984CE-738E-F884-185C-7592754BD5F1}"/>
              </a:ext>
            </a:extLst>
          </p:cNvPr>
          <p:cNvSpPr txBox="1"/>
          <p:nvPr/>
        </p:nvSpPr>
        <p:spPr>
          <a:xfrm>
            <a:off x="0" y="143298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7DE833C9-27EC-E5AE-AE11-3CA9C18E679A}"/>
              </a:ext>
            </a:extLst>
          </p:cNvPr>
          <p:cNvSpPr txBox="1"/>
          <p:nvPr/>
        </p:nvSpPr>
        <p:spPr>
          <a:xfrm>
            <a:off x="358041" y="2383574"/>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2E1E9B06-1084-26B6-7D41-7A0378BD509D}"/>
              </a:ext>
            </a:extLst>
          </p:cNvPr>
          <p:cNvSpPr txBox="1"/>
          <p:nvPr/>
        </p:nvSpPr>
        <p:spPr>
          <a:xfrm>
            <a:off x="358039" y="3518993"/>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E5455880-F8CE-E2F5-B1AD-D36E0AD18AAA}"/>
              </a:ext>
            </a:extLst>
          </p:cNvPr>
          <p:cNvSpPr txBox="1"/>
          <p:nvPr/>
        </p:nvSpPr>
        <p:spPr>
          <a:xfrm>
            <a:off x="358039" y="465441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Tree>
    <p:extLst>
      <p:ext uri="{BB962C8B-B14F-4D97-AF65-F5344CB8AC3E}">
        <p14:creationId xmlns:p14="http://schemas.microsoft.com/office/powerpoint/2010/main" val="2885441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7754-9EE2-6E80-8106-0BE97A463F7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E8155ED-24A1-9266-A7CB-8F32D8367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E464E2CF-0998-0E08-2CF8-32521D5DC33A}"/>
              </a:ext>
            </a:extLst>
          </p:cNvPr>
          <p:cNvSpPr txBox="1"/>
          <p:nvPr/>
        </p:nvSpPr>
        <p:spPr>
          <a:xfrm>
            <a:off x="2901725" y="-252824"/>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8A56BF68-2369-9847-2EED-72E31FEAB315}"/>
              </a:ext>
            </a:extLst>
          </p:cNvPr>
          <p:cNvSpPr txBox="1"/>
          <p:nvPr/>
        </p:nvSpPr>
        <p:spPr>
          <a:xfrm>
            <a:off x="3381084" y="492573"/>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00C23F57-316B-38EA-4FB4-9F177732E107}"/>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3467425E-7CEF-AFFE-BD3B-E1CCE65B9078}"/>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6F4B43BB-CEF0-82A3-4CC3-D5FD635F57C3}"/>
              </a:ext>
            </a:extLst>
          </p:cNvPr>
          <p:cNvSpPr txBox="1"/>
          <p:nvPr/>
        </p:nvSpPr>
        <p:spPr>
          <a:xfrm>
            <a:off x="0" y="122727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48780AB8-39B0-2017-AFB3-8093751B0BB8}"/>
              </a:ext>
            </a:extLst>
          </p:cNvPr>
          <p:cNvSpPr txBox="1"/>
          <p:nvPr/>
        </p:nvSpPr>
        <p:spPr>
          <a:xfrm>
            <a:off x="2288000" y="1902447"/>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A9D3BE44-0321-0BC1-7BA8-DDA5A1AF50F9}"/>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2C823B04-1F29-96D2-3B6C-18E899B0612A}"/>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F38A8F37-65BD-DB2A-37AB-E604723BE582}"/>
              </a:ext>
            </a:extLst>
          </p:cNvPr>
          <p:cNvSpPr txBox="1"/>
          <p:nvPr/>
        </p:nvSpPr>
        <p:spPr>
          <a:xfrm>
            <a:off x="2147086" y="300608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5A13FD4E-4586-A2D8-5667-ED96100F4008}"/>
              </a:ext>
            </a:extLst>
          </p:cNvPr>
          <p:cNvSpPr txBox="1"/>
          <p:nvPr/>
        </p:nvSpPr>
        <p:spPr>
          <a:xfrm>
            <a:off x="2533902" y="374824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C0D730F7-0C9E-EFF2-1E80-94A08D8E528C}"/>
              </a:ext>
            </a:extLst>
          </p:cNvPr>
          <p:cNvSpPr txBox="1"/>
          <p:nvPr/>
        </p:nvSpPr>
        <p:spPr>
          <a:xfrm>
            <a:off x="2901725" y="4573273"/>
            <a:ext cx="7915399"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Tree>
    <p:extLst>
      <p:ext uri="{BB962C8B-B14F-4D97-AF65-F5344CB8AC3E}">
        <p14:creationId xmlns:p14="http://schemas.microsoft.com/office/powerpoint/2010/main" val="554009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FEB9-8C62-C595-5943-9B3A6A0B272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774A4B3-39F8-6A6B-040D-9E1EFF643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A14C3A00-A92F-A608-0CF5-74AD4E58FE7D}"/>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4CD3221C-0533-9F29-04D5-24FF5A4085EC}"/>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29B81401-D578-4F62-A5B8-63C4E41CBCD8}"/>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9CF5C890-5AF7-24F6-DABB-CB6F928763DE}"/>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F28DDFFA-F221-E940-260A-3499926C482D}"/>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C5ACC37-C193-6E70-D619-EAE458AF2F68}"/>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2E667056-2EFE-D4F3-18CD-DFCC1A53D994}"/>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2177676E-D367-5319-0BB1-798DE01E5825}"/>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084D6B04-0100-C705-F245-D3B8452C0784}"/>
              </a:ext>
            </a:extLst>
          </p:cNvPr>
          <p:cNvSpPr txBox="1"/>
          <p:nvPr/>
        </p:nvSpPr>
        <p:spPr>
          <a:xfrm>
            <a:off x="1" y="1138719"/>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A881ED36-D7BE-2F5B-063E-7E92130AC33D}"/>
              </a:ext>
            </a:extLst>
          </p:cNvPr>
          <p:cNvSpPr txBox="1"/>
          <p:nvPr/>
        </p:nvSpPr>
        <p:spPr>
          <a:xfrm>
            <a:off x="12108332" y="307739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C5089B23-4C2F-660E-03F7-EE3996D72F4A}"/>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B73E7548-AE64-2C85-96D8-E7633FAA49DD}"/>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93DA0C5B-13B2-93D9-D137-C74693D13C6F}"/>
              </a:ext>
            </a:extLst>
          </p:cNvPr>
          <p:cNvSpPr txBox="1"/>
          <p:nvPr/>
        </p:nvSpPr>
        <p:spPr>
          <a:xfrm>
            <a:off x="0" y="4035001"/>
            <a:ext cx="378729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Nhu cầu khách hàng</a:t>
            </a:r>
          </a:p>
        </p:txBody>
      </p:sp>
      <p:sp>
        <p:nvSpPr>
          <p:cNvPr id="18" name="Hộp Văn bản 17">
            <a:extLst>
              <a:ext uri="{FF2B5EF4-FFF2-40B4-BE49-F238E27FC236}">
                <a16:creationId xmlns:a16="http://schemas.microsoft.com/office/drawing/2014/main" id="{044810F3-01BE-427E-3160-3273A70CC924}"/>
              </a:ext>
            </a:extLst>
          </p:cNvPr>
          <p:cNvSpPr txBox="1"/>
          <p:nvPr/>
        </p:nvSpPr>
        <p:spPr>
          <a:xfrm>
            <a:off x="5242034" y="1857484"/>
            <a:ext cx="6320821"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Hệ thống tưới cây tự động có sự thông minh, giá thành rẻ, chi phí tiêu thụ thấp</a:t>
            </a:r>
          </a:p>
        </p:txBody>
      </p:sp>
      <p:sp>
        <p:nvSpPr>
          <p:cNvPr id="19" name="Hộp Văn bản 18">
            <a:extLst>
              <a:ext uri="{FF2B5EF4-FFF2-40B4-BE49-F238E27FC236}">
                <a16:creationId xmlns:a16="http://schemas.microsoft.com/office/drawing/2014/main" id="{F94586BA-F65D-9207-7EA5-9E9D8AEA64F5}"/>
              </a:ext>
            </a:extLst>
          </p:cNvPr>
          <p:cNvSpPr txBox="1"/>
          <p:nvPr/>
        </p:nvSpPr>
        <p:spPr>
          <a:xfrm>
            <a:off x="5242034" y="3543917"/>
            <a:ext cx="6320821"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Có 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r>
              <a:rPr lang="vi-VN" sz="2800" dirty="0">
                <a:solidFill>
                  <a:schemeClr val="tx1"/>
                </a:solidFill>
                <a:latin typeface="Arial Bold" panose="020B0704020202020204" pitchFamily="34" charset="0"/>
                <a:cs typeface="Arial Bold" panose="020B0704020202020204" pitchFamily="34" charset="0"/>
              </a:rPr>
              <a:t> thông qua thiết bị điện thoại, máy tính</a:t>
            </a:r>
          </a:p>
        </p:txBody>
      </p:sp>
      <p:sp>
        <p:nvSpPr>
          <p:cNvPr id="20" name="Hộp Văn bản 19">
            <a:extLst>
              <a:ext uri="{FF2B5EF4-FFF2-40B4-BE49-F238E27FC236}">
                <a16:creationId xmlns:a16="http://schemas.microsoft.com/office/drawing/2014/main" id="{BF1C0AFC-BF6D-56CF-568A-B38E8BFB3954}"/>
              </a:ext>
            </a:extLst>
          </p:cNvPr>
          <p:cNvSpPr txBox="1"/>
          <p:nvPr/>
        </p:nvSpPr>
        <p:spPr>
          <a:xfrm>
            <a:off x="5242035" y="5531787"/>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Dễ lắp đặt, dễ thao tác và dễ sử dụng</a:t>
            </a:r>
          </a:p>
        </p:txBody>
      </p:sp>
    </p:spTree>
    <p:extLst>
      <p:ext uri="{BB962C8B-B14F-4D97-AF65-F5344CB8AC3E}">
        <p14:creationId xmlns:p14="http://schemas.microsoft.com/office/powerpoint/2010/main" val="1483818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66A35-7698-4A59-12C9-BEBE5099295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3C87113-6C81-8C81-B6C4-7A863539E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69D8A099-064E-EEA6-06D6-22352CFDE90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A87E4F68-0D2F-F8C2-886C-789666A82130}"/>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D866A509-797B-1FAB-9DAA-D6B267451C17}"/>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A29A20F6-8D52-949E-A6FA-F0199F7528DE}"/>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34FD879B-FCB9-9CD0-529D-20D1C66FF939}"/>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8CD0D7D-2FC0-8EFF-9976-044E324E6F17}"/>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CED212FE-9D33-CC97-AD50-26F248127165}"/>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4E06CEB5-4F19-6668-5F18-59E96D57FEC8}"/>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67DB6598-4F5E-76E5-B957-043F7154D183}"/>
              </a:ext>
            </a:extLst>
          </p:cNvPr>
          <p:cNvSpPr txBox="1"/>
          <p:nvPr/>
        </p:nvSpPr>
        <p:spPr>
          <a:xfrm>
            <a:off x="1" y="1138719"/>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1CF2D0EF-1920-C4D5-2827-E0A808C90A51}"/>
              </a:ext>
            </a:extLst>
          </p:cNvPr>
          <p:cNvSpPr txBox="1"/>
          <p:nvPr/>
        </p:nvSpPr>
        <p:spPr>
          <a:xfrm>
            <a:off x="12108332" y="307739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E2C099E8-AD15-395B-D370-DB09207230CB}"/>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C91CA58B-E79B-774C-7A26-F3323B015892}"/>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D69CB495-32C7-7BA8-2188-0A669747651D}"/>
              </a:ext>
            </a:extLst>
          </p:cNvPr>
          <p:cNvSpPr txBox="1"/>
          <p:nvPr/>
        </p:nvSpPr>
        <p:spPr>
          <a:xfrm>
            <a:off x="15833" y="3673532"/>
            <a:ext cx="378729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Mục  tiêu bài toán</a:t>
            </a:r>
          </a:p>
        </p:txBody>
      </p:sp>
      <p:sp>
        <p:nvSpPr>
          <p:cNvPr id="18" name="Hộp Văn bản 17">
            <a:extLst>
              <a:ext uri="{FF2B5EF4-FFF2-40B4-BE49-F238E27FC236}">
                <a16:creationId xmlns:a16="http://schemas.microsoft.com/office/drawing/2014/main" id="{750654C8-FC2D-D37E-62C0-8C54767AE106}"/>
              </a:ext>
            </a:extLst>
          </p:cNvPr>
          <p:cNvSpPr txBox="1"/>
          <p:nvPr/>
        </p:nvSpPr>
        <p:spPr>
          <a:xfrm>
            <a:off x="5228466" y="1773535"/>
            <a:ext cx="6320821"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Một hệ thống tự động kiểm soát và duy trì độ ẩm đất trồng ở mức phù hợp</a:t>
            </a:r>
          </a:p>
        </p:txBody>
      </p:sp>
      <p:sp>
        <p:nvSpPr>
          <p:cNvPr id="19" name="Hộp Văn bản 18">
            <a:extLst>
              <a:ext uri="{FF2B5EF4-FFF2-40B4-BE49-F238E27FC236}">
                <a16:creationId xmlns:a16="http://schemas.microsoft.com/office/drawing/2014/main" id="{00413953-28F5-7E0B-F38B-2E57CC60A119}"/>
              </a:ext>
            </a:extLst>
          </p:cNvPr>
          <p:cNvSpPr txBox="1"/>
          <p:nvPr/>
        </p:nvSpPr>
        <p:spPr>
          <a:xfrm>
            <a:off x="5228467" y="3661315"/>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Hệ thống tưới tự động theo điều kiện</a:t>
            </a:r>
          </a:p>
        </p:txBody>
      </p:sp>
      <p:sp>
        <p:nvSpPr>
          <p:cNvPr id="20" name="Hộp Văn bản 19">
            <a:extLst>
              <a:ext uri="{FF2B5EF4-FFF2-40B4-BE49-F238E27FC236}">
                <a16:creationId xmlns:a16="http://schemas.microsoft.com/office/drawing/2014/main" id="{FD08A3AE-5EA4-173D-84AA-8A60E8443727}"/>
              </a:ext>
            </a:extLst>
          </p:cNvPr>
          <p:cNvSpPr txBox="1"/>
          <p:nvPr/>
        </p:nvSpPr>
        <p:spPr>
          <a:xfrm>
            <a:off x="5242035" y="5242227"/>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2284536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226A-7486-2C53-5F83-C215673A57C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3DD9E91-9BA8-34CF-A6DF-63694B467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48867FFB-A1D1-9FBA-C325-11160F4A4AA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DA8327BD-27E9-12B6-3CBE-920DAE0CF063}"/>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9DD59D67-FCE7-F768-2F26-C2F28221519B}"/>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68AF0207-CBC7-7E91-58DD-2F01D5A84242}"/>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BBD25FE9-9F75-E892-2D71-8FD91077D856}"/>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DA935883-D66A-1FB3-DEC9-3852EE485138}"/>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3AD9E37B-38D1-FB0E-AAA0-72367A71B89A}"/>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E8DB9A7A-D5E5-08CF-1DA6-B9157B61CD70}"/>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3899701A-E6ED-15A5-3280-FD9A4BD7C3C4}"/>
              </a:ext>
            </a:extLst>
          </p:cNvPr>
          <p:cNvSpPr txBox="1"/>
          <p:nvPr/>
        </p:nvSpPr>
        <p:spPr>
          <a:xfrm>
            <a:off x="1" y="1138719"/>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82B76977-E022-F4D2-D673-F667BF025B66}"/>
              </a:ext>
            </a:extLst>
          </p:cNvPr>
          <p:cNvSpPr txBox="1"/>
          <p:nvPr/>
        </p:nvSpPr>
        <p:spPr>
          <a:xfrm>
            <a:off x="12108332" y="307739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870FE8D7-ED2A-EA95-67E2-173F0B011EA5}"/>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B8F66CCD-5ABD-61CB-ECE8-B9FF2BFD4143}"/>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69CA703B-ED51-B26D-4C2B-7149D0AD06B0}"/>
              </a:ext>
            </a:extLst>
          </p:cNvPr>
          <p:cNvSpPr txBox="1"/>
          <p:nvPr/>
        </p:nvSpPr>
        <p:spPr>
          <a:xfrm>
            <a:off x="-2590551" y="2855907"/>
            <a:ext cx="2285407"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Mục  tiêu bài toán</a:t>
            </a:r>
          </a:p>
        </p:txBody>
      </p:sp>
      <p:sp>
        <p:nvSpPr>
          <p:cNvPr id="18" name="Hộp Văn bản 17">
            <a:extLst>
              <a:ext uri="{FF2B5EF4-FFF2-40B4-BE49-F238E27FC236}">
                <a16:creationId xmlns:a16="http://schemas.microsoft.com/office/drawing/2014/main" id="{775367CF-2D8D-02A9-0099-C5F8232999C6}"/>
              </a:ext>
            </a:extLst>
          </p:cNvPr>
          <p:cNvSpPr txBox="1"/>
          <p:nvPr/>
        </p:nvSpPr>
        <p:spPr>
          <a:xfrm>
            <a:off x="5456667" y="-2194769"/>
            <a:ext cx="6320821"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Một hệ thống tự động kiểm soát và duy trì độ ẩm đất trồng ở mức phù hợp</a:t>
            </a:r>
          </a:p>
        </p:txBody>
      </p:sp>
      <p:sp>
        <p:nvSpPr>
          <p:cNvPr id="19" name="Hộp Văn bản 18">
            <a:extLst>
              <a:ext uri="{FF2B5EF4-FFF2-40B4-BE49-F238E27FC236}">
                <a16:creationId xmlns:a16="http://schemas.microsoft.com/office/drawing/2014/main" id="{CCC9F070-2FAF-BF71-8121-13690526993B}"/>
              </a:ext>
            </a:extLst>
          </p:cNvPr>
          <p:cNvSpPr txBox="1"/>
          <p:nvPr/>
        </p:nvSpPr>
        <p:spPr>
          <a:xfrm>
            <a:off x="1126788" y="3060313"/>
            <a:ext cx="2285407" cy="181588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Hệ thống tưới tự động theo điều kiện</a:t>
            </a:r>
          </a:p>
        </p:txBody>
      </p:sp>
      <p:sp>
        <p:nvSpPr>
          <p:cNvPr id="20" name="Hộp Văn bản 19">
            <a:extLst>
              <a:ext uri="{FF2B5EF4-FFF2-40B4-BE49-F238E27FC236}">
                <a16:creationId xmlns:a16="http://schemas.microsoft.com/office/drawing/2014/main" id="{5797752A-CC21-B20D-FD5F-5A64CACFF872}"/>
              </a:ext>
            </a:extLst>
          </p:cNvPr>
          <p:cNvSpPr txBox="1"/>
          <p:nvPr/>
        </p:nvSpPr>
        <p:spPr>
          <a:xfrm>
            <a:off x="-2228329" y="-2167381"/>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9" name="Hộp Văn bản 8">
            <a:extLst>
              <a:ext uri="{FF2B5EF4-FFF2-40B4-BE49-F238E27FC236}">
                <a16:creationId xmlns:a16="http://schemas.microsoft.com/office/drawing/2014/main" id="{3329A152-9BD2-1F63-C381-24F614FE8F2B}"/>
              </a:ext>
            </a:extLst>
          </p:cNvPr>
          <p:cNvSpPr txBox="1"/>
          <p:nvPr/>
        </p:nvSpPr>
        <p:spPr>
          <a:xfrm>
            <a:off x="4742715" y="1979826"/>
            <a:ext cx="6743605"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Khi giá trị độ ẩm đất thấp hơn ngưỡng cho phép, hệ thống kích hoạt </a:t>
            </a:r>
          </a:p>
        </p:txBody>
      </p:sp>
      <p:sp>
        <p:nvSpPr>
          <p:cNvPr id="15" name="Hộp Văn bản 14">
            <a:extLst>
              <a:ext uri="{FF2B5EF4-FFF2-40B4-BE49-F238E27FC236}">
                <a16:creationId xmlns:a16="http://schemas.microsoft.com/office/drawing/2014/main" id="{4005B8D1-25E2-F746-71E2-A1092C71B394}"/>
              </a:ext>
            </a:extLst>
          </p:cNvPr>
          <p:cNvSpPr txBox="1"/>
          <p:nvPr/>
        </p:nvSpPr>
        <p:spPr>
          <a:xfrm>
            <a:off x="4742715" y="3565159"/>
            <a:ext cx="6743605"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Khi giá trị độ ẩm đất đạt hoặc vượt ngưỡng, hệ thống tự động dừng tưới</a:t>
            </a:r>
          </a:p>
        </p:txBody>
      </p:sp>
      <p:sp>
        <p:nvSpPr>
          <p:cNvPr id="23" name="Hộp Văn bản 22">
            <a:extLst>
              <a:ext uri="{FF2B5EF4-FFF2-40B4-BE49-F238E27FC236}">
                <a16:creationId xmlns:a16="http://schemas.microsoft.com/office/drawing/2014/main" id="{24A99D9F-1F28-81CD-F860-E1585FB81BFB}"/>
              </a:ext>
            </a:extLst>
          </p:cNvPr>
          <p:cNvSpPr txBox="1"/>
          <p:nvPr/>
        </p:nvSpPr>
        <p:spPr>
          <a:xfrm>
            <a:off x="-7170324" y="5228519"/>
            <a:ext cx="6743605"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Dựa vào thời gian tưới tiếp theo(được tính toán thông minh dựa trên nhiệt độ, độ ẩm không khí)</a:t>
            </a:r>
          </a:p>
        </p:txBody>
      </p:sp>
      <p:sp>
        <p:nvSpPr>
          <p:cNvPr id="17" name="Hộp Văn bản 16">
            <a:extLst>
              <a:ext uri="{FF2B5EF4-FFF2-40B4-BE49-F238E27FC236}">
                <a16:creationId xmlns:a16="http://schemas.microsoft.com/office/drawing/2014/main" id="{369C4444-9D96-A09C-50A6-4C60AC44FC40}"/>
              </a:ext>
            </a:extLst>
          </p:cNvPr>
          <p:cNvSpPr txBox="1"/>
          <p:nvPr/>
        </p:nvSpPr>
        <p:spPr>
          <a:xfrm>
            <a:off x="4742714" y="5138642"/>
            <a:ext cx="6743606"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800" dirty="0">
                <a:solidFill>
                  <a:schemeClr val="tx1"/>
                </a:solidFill>
                <a:latin typeface="Arial Bold" panose="020B0704020202020204" pitchFamily="34" charset="0"/>
                <a:cs typeface="Arial Bold" panose="020B0704020202020204" pitchFamily="34" charset="0"/>
              </a:rPr>
              <a:t>Có thể hoạt động theo lịch trình định sẵn</a:t>
            </a:r>
          </a:p>
        </p:txBody>
      </p:sp>
    </p:spTree>
    <p:extLst>
      <p:ext uri="{BB962C8B-B14F-4D97-AF65-F5344CB8AC3E}">
        <p14:creationId xmlns:p14="http://schemas.microsoft.com/office/powerpoint/2010/main" val="47103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33A38-ACFA-E7D2-9559-20343E94925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131747A-4C51-9CBA-E352-097CCFAB8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1F533A6E-61EF-B424-D4C7-457041528B89}"/>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F68D68A7-6985-64AB-095D-6DCBCB121EB2}"/>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66AC39C7-9E2B-1CBD-F0EC-31CE03103E15}"/>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C6A8B026-9D13-401B-9248-9BCFB94C2000}"/>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89CDF96C-66E5-E8F6-61DF-002F54E1FF1A}"/>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8FE492F6-5D1C-B3BC-F747-BDA3FF35A64E}"/>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1A81747C-5368-CD1C-5FDF-D114FFDCE186}"/>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CC3EAAC2-18DD-EA50-08E1-AF9DD11A88ED}"/>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50088A2C-B84A-AA33-DECB-59788A0E7B9C}"/>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A68C74F5-12B0-ACC9-6D05-E18A1B0457AA}"/>
              </a:ext>
            </a:extLst>
          </p:cNvPr>
          <p:cNvSpPr txBox="1"/>
          <p:nvPr/>
        </p:nvSpPr>
        <p:spPr>
          <a:xfrm>
            <a:off x="15833" y="125211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28BEAD73-1485-C2F9-4950-197A832BB10B}"/>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970F4F00-FDC2-5E1F-186D-CDC7F8D4AEF3}"/>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D7480C7F-9014-874F-F3EF-85995315376E}"/>
              </a:ext>
            </a:extLst>
          </p:cNvPr>
          <p:cNvSpPr txBox="1"/>
          <p:nvPr/>
        </p:nvSpPr>
        <p:spPr>
          <a:xfrm>
            <a:off x="15833" y="3673532"/>
            <a:ext cx="378729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Yêu cầu bài toán</a:t>
            </a:r>
          </a:p>
        </p:txBody>
      </p:sp>
      <p:sp>
        <p:nvSpPr>
          <p:cNvPr id="18" name="Hộp Văn bản 17">
            <a:extLst>
              <a:ext uri="{FF2B5EF4-FFF2-40B4-BE49-F238E27FC236}">
                <a16:creationId xmlns:a16="http://schemas.microsoft.com/office/drawing/2014/main" id="{767387D0-B795-D16A-3045-F36C1EB0728A}"/>
              </a:ext>
            </a:extLst>
          </p:cNvPr>
          <p:cNvSpPr txBox="1"/>
          <p:nvPr/>
        </p:nvSpPr>
        <p:spPr>
          <a:xfrm>
            <a:off x="5228466" y="2017375"/>
            <a:ext cx="6320821"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dirty="0">
                <a:solidFill>
                  <a:schemeClr val="tx1"/>
                </a:solidFill>
                <a:latin typeface="Arial Bold" panose="020B0704020202020204" pitchFamily="34" charset="0"/>
                <a:cs typeface="Arial Bold" panose="020B0704020202020204" pitchFamily="34" charset="0"/>
              </a:rPr>
              <a:t>Phải có hệ thống tưới, thực hiện bằng động cơ bơm nước từ bể nước ra cây trồng, điều chỉnh được công suất bơm</a:t>
            </a:r>
          </a:p>
        </p:txBody>
      </p:sp>
      <p:sp>
        <p:nvSpPr>
          <p:cNvPr id="19" name="Hộp Văn bản 18">
            <a:extLst>
              <a:ext uri="{FF2B5EF4-FFF2-40B4-BE49-F238E27FC236}">
                <a16:creationId xmlns:a16="http://schemas.microsoft.com/office/drawing/2014/main" id="{532C5298-D1D0-BF5B-44AD-C25AEBB7B718}"/>
              </a:ext>
            </a:extLst>
          </p:cNvPr>
          <p:cNvSpPr txBox="1"/>
          <p:nvPr/>
        </p:nvSpPr>
        <p:spPr>
          <a:xfrm>
            <a:off x="5228465" y="4196752"/>
            <a:ext cx="6320821"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dirty="0">
                <a:solidFill>
                  <a:schemeClr val="tx1"/>
                </a:solidFill>
                <a:latin typeface="Arial Bold" panose="020B0704020202020204" pitchFamily="34" charset="0"/>
                <a:cs typeface="Arial Bold" panose="020B0704020202020204" pitchFamily="34" charset="0"/>
              </a:rPr>
              <a:t>Phải có thiết bị đọc giá trị độ ẩm đất, thông số môi trường để quyết định tưới hay không, ghi và lưu trữ dữ liệu lên </a:t>
            </a:r>
            <a:r>
              <a:rPr lang="vi-VN" sz="2400" dirty="0" err="1">
                <a:solidFill>
                  <a:schemeClr val="tx1"/>
                </a:solidFill>
                <a:latin typeface="Arial Bold" panose="020B0704020202020204" pitchFamily="34" charset="0"/>
                <a:cs typeface="Arial Bold" panose="020B0704020202020204" pitchFamily="34" charset="0"/>
              </a:rPr>
              <a:t>server</a:t>
            </a:r>
            <a:endParaRPr lang="vi-VN" sz="2400" dirty="0">
              <a:solidFill>
                <a:schemeClr val="tx1"/>
              </a:solidFill>
              <a:latin typeface="Arial Bold" panose="020B0704020202020204" pitchFamily="34" charset="0"/>
              <a:cs typeface="Arial Bold" panose="020B0704020202020204" pitchFamily="34" charset="0"/>
            </a:endParaRPr>
          </a:p>
        </p:txBody>
      </p:sp>
      <p:sp>
        <p:nvSpPr>
          <p:cNvPr id="20" name="Hộp Văn bản 19">
            <a:extLst>
              <a:ext uri="{FF2B5EF4-FFF2-40B4-BE49-F238E27FC236}">
                <a16:creationId xmlns:a16="http://schemas.microsoft.com/office/drawing/2014/main" id="{E458EB39-23DE-4C35-5831-F137F7376568}"/>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2414880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2772-BA63-CE21-9994-C8C31CA6046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0A5D7C8-075A-437E-48AA-C6E15B888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D8EC338C-DD70-EBDD-1D8F-5577D9B1B4C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E287CE91-51DF-0D11-2CE3-2BAEDA3EE16F}"/>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8DD5E0EA-C80E-42AA-28FC-9761C7C6DCBC}"/>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E0DFFE9F-C415-EA73-5D22-F7198C530E3C}"/>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33BBF868-2D47-4315-5214-5D1F095BAD86}"/>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AB0E6868-639A-A0AC-8B09-EBE924AF99D7}"/>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5EC366EF-7698-FD7B-7035-313ED610BD9C}"/>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4E5203B8-36F5-FC46-BC52-0E6C1A822989}"/>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33A55204-1E82-2626-29DC-F81ABFAA5097}"/>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3226C038-8528-7488-9BD7-01DA9AC2DEB6}"/>
              </a:ext>
            </a:extLst>
          </p:cNvPr>
          <p:cNvSpPr txBox="1"/>
          <p:nvPr/>
        </p:nvSpPr>
        <p:spPr>
          <a:xfrm>
            <a:off x="15833" y="125211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07F138BB-5737-5C30-DA41-5AA7ACB437AD}"/>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DB2B39F0-BB97-2E85-4E07-1127EEA19BB1}"/>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61927B7E-433B-DF73-FAD9-F7EAA9B4803A}"/>
              </a:ext>
            </a:extLst>
          </p:cNvPr>
          <p:cNvSpPr txBox="1"/>
          <p:nvPr/>
        </p:nvSpPr>
        <p:spPr>
          <a:xfrm>
            <a:off x="1493909" y="3217704"/>
            <a:ext cx="1767247"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Yêu cầu bài toán</a:t>
            </a:r>
          </a:p>
        </p:txBody>
      </p:sp>
      <p:sp>
        <p:nvSpPr>
          <p:cNvPr id="18" name="Hộp Văn bản 17">
            <a:extLst>
              <a:ext uri="{FF2B5EF4-FFF2-40B4-BE49-F238E27FC236}">
                <a16:creationId xmlns:a16="http://schemas.microsoft.com/office/drawing/2014/main" id="{714ED495-CCC5-8DEA-66B1-4CAD68D1F4AC}"/>
              </a:ext>
            </a:extLst>
          </p:cNvPr>
          <p:cNvSpPr txBox="1"/>
          <p:nvPr/>
        </p:nvSpPr>
        <p:spPr>
          <a:xfrm>
            <a:off x="5228466" y="2027217"/>
            <a:ext cx="5896733"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Phải có đồng hồ thời gian thực để lập lịch tưới tự động</a:t>
            </a:r>
          </a:p>
        </p:txBody>
      </p:sp>
      <p:sp>
        <p:nvSpPr>
          <p:cNvPr id="19" name="Hộp Văn bản 18">
            <a:extLst>
              <a:ext uri="{FF2B5EF4-FFF2-40B4-BE49-F238E27FC236}">
                <a16:creationId xmlns:a16="http://schemas.microsoft.com/office/drawing/2014/main" id="{D69B9437-5CDB-88EA-5543-74907A1E1C2A}"/>
              </a:ext>
            </a:extLst>
          </p:cNvPr>
          <p:cNvSpPr txBox="1"/>
          <p:nvPr/>
        </p:nvSpPr>
        <p:spPr>
          <a:xfrm>
            <a:off x="5228465" y="3874805"/>
            <a:ext cx="5896733"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Phải có cảm biến kiểm tra trạng thái hiện tại của bơm: đang tưới, đã dừng tưới  báo lên </a:t>
            </a:r>
            <a:r>
              <a:rPr lang="vi-VN" sz="2400" dirty="0" err="1">
                <a:solidFill>
                  <a:schemeClr val="tx1"/>
                </a:solidFill>
                <a:latin typeface="Arial Bold" panose="020B0704020202020204" pitchFamily="34" charset="0"/>
                <a:cs typeface="Arial Bold" panose="020B0704020202020204" pitchFamily="34" charset="0"/>
              </a:rPr>
              <a:t>server</a:t>
            </a:r>
            <a:endParaRPr lang="vi-VN" sz="2400" dirty="0">
              <a:solidFill>
                <a:schemeClr val="tx1"/>
              </a:solidFill>
              <a:latin typeface="Arial Bold" panose="020B0704020202020204" pitchFamily="34" charset="0"/>
              <a:cs typeface="Arial Bold" panose="020B0704020202020204" pitchFamily="34" charset="0"/>
            </a:endParaRPr>
          </a:p>
        </p:txBody>
      </p:sp>
      <p:sp>
        <p:nvSpPr>
          <p:cNvPr id="20" name="Hộp Văn bản 19">
            <a:extLst>
              <a:ext uri="{FF2B5EF4-FFF2-40B4-BE49-F238E27FC236}">
                <a16:creationId xmlns:a16="http://schemas.microsoft.com/office/drawing/2014/main" id="{9DBF0B3C-E4BC-82D1-3A87-CF2483B4FCC6}"/>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2495065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44B80-E841-BEA1-3F2D-45B4CAF467E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12C2EB4-9B28-86FA-606E-935A16924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C93143DE-D722-4DE4-73F7-E3F7AAFE542A}"/>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3F141654-908B-A700-1762-7EC337B60680}"/>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48CFE2D0-0BE6-06C3-ABB2-EC23305DED34}"/>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DFFBD7BE-AA24-D9FB-77B8-480D418DDB7D}"/>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F95BC56C-2D9F-7AE0-046B-56019C88E819}"/>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DC903F80-D429-0679-EE73-414271B15FA6}"/>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633E1FB2-0077-3663-D276-F0C54DB53A0B}"/>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D2D1C202-5689-D6BB-090A-C6E4639C0DCB}"/>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87169474-D5B1-4F56-1D36-C7FC93A326E6}"/>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D55B9005-5F33-C68D-220A-575D0C8B7D8C}"/>
              </a:ext>
            </a:extLst>
          </p:cNvPr>
          <p:cNvSpPr txBox="1"/>
          <p:nvPr/>
        </p:nvSpPr>
        <p:spPr>
          <a:xfrm>
            <a:off x="15833" y="125211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B4048389-C44D-C377-9573-3DEF43737503}"/>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6AFA6DB4-C07B-F719-CE89-2FF80FA8E9A7}"/>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4A044193-90A0-78FA-8BC5-59AFD4480011}"/>
              </a:ext>
            </a:extLst>
          </p:cNvPr>
          <p:cNvSpPr txBox="1"/>
          <p:nvPr/>
        </p:nvSpPr>
        <p:spPr>
          <a:xfrm>
            <a:off x="1493909" y="3217704"/>
            <a:ext cx="1767247"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Yêu cầu bài toán</a:t>
            </a:r>
          </a:p>
        </p:txBody>
      </p:sp>
      <p:sp>
        <p:nvSpPr>
          <p:cNvPr id="18" name="Hộp Văn bản 17">
            <a:extLst>
              <a:ext uri="{FF2B5EF4-FFF2-40B4-BE49-F238E27FC236}">
                <a16:creationId xmlns:a16="http://schemas.microsoft.com/office/drawing/2014/main" id="{0EB56929-7215-C40B-AB7B-97E12EDBCB46}"/>
              </a:ext>
            </a:extLst>
          </p:cNvPr>
          <p:cNvSpPr txBox="1"/>
          <p:nvPr/>
        </p:nvSpPr>
        <p:spPr>
          <a:xfrm>
            <a:off x="5228466" y="2017375"/>
            <a:ext cx="6110094"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dirty="0">
                <a:solidFill>
                  <a:schemeClr val="tx1"/>
                </a:solidFill>
                <a:latin typeface="Arial Bold" panose="020B0704020202020204" pitchFamily="34" charset="0"/>
                <a:cs typeface="Arial Bold" panose="020B0704020202020204" pitchFamily="34" charset="0"/>
              </a:rPr>
              <a:t>Hệ thống có 4 chế độ tự động, thủ công, ngủ và theo lịch, có thể bật tắt thông qua giao diện điều khiển</a:t>
            </a:r>
          </a:p>
        </p:txBody>
      </p:sp>
      <p:sp>
        <p:nvSpPr>
          <p:cNvPr id="19" name="Hộp Văn bản 18">
            <a:extLst>
              <a:ext uri="{FF2B5EF4-FFF2-40B4-BE49-F238E27FC236}">
                <a16:creationId xmlns:a16="http://schemas.microsoft.com/office/drawing/2014/main" id="{DFA4EC1D-C852-6267-4BF5-03988B33508C}"/>
              </a:ext>
            </a:extLst>
          </p:cNvPr>
          <p:cNvSpPr txBox="1"/>
          <p:nvPr/>
        </p:nvSpPr>
        <p:spPr>
          <a:xfrm>
            <a:off x="5228466" y="4196752"/>
            <a:ext cx="6110094"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Truyền dữ liệu giữa hệ thống tưới và hệ thống trung tâm (</a:t>
            </a:r>
            <a:r>
              <a:rPr lang="vi-VN" sz="2400" dirty="0" err="1">
                <a:solidFill>
                  <a:schemeClr val="tx1"/>
                </a:solidFill>
                <a:latin typeface="Arial Bold" panose="020B0704020202020204" pitchFamily="34" charset="0"/>
                <a:cs typeface="Arial Bold" panose="020B0704020202020204" pitchFamily="34" charset="0"/>
              </a:rPr>
              <a:t>server</a:t>
            </a:r>
            <a:r>
              <a:rPr lang="vi-VN" sz="2400" dirty="0">
                <a:solidFill>
                  <a:schemeClr val="tx1"/>
                </a:solidFill>
                <a:latin typeface="Arial Bold" panose="020B0704020202020204" pitchFamily="34" charset="0"/>
                <a:cs typeface="Arial Bold" panose="020B0704020202020204" pitchFamily="34" charset="0"/>
              </a:rPr>
              <a:t>) cần khả năng kết nối </a:t>
            </a:r>
            <a:r>
              <a:rPr lang="vi-VN" sz="2400" dirty="0" err="1">
                <a:solidFill>
                  <a:schemeClr val="tx1"/>
                </a:solidFill>
                <a:latin typeface="Arial Bold" panose="020B0704020202020204" pitchFamily="34" charset="0"/>
                <a:cs typeface="Arial Bold" panose="020B0704020202020204" pitchFamily="34" charset="0"/>
              </a:rPr>
              <a:t>Internet</a:t>
            </a:r>
            <a:endParaRPr lang="vi-VN" sz="2400" dirty="0">
              <a:solidFill>
                <a:schemeClr val="tx1"/>
              </a:solidFill>
              <a:latin typeface="Arial Bold" panose="020B0704020202020204" pitchFamily="34" charset="0"/>
              <a:cs typeface="Arial Bold" panose="020B0704020202020204" pitchFamily="34" charset="0"/>
            </a:endParaRPr>
          </a:p>
        </p:txBody>
      </p:sp>
      <p:sp>
        <p:nvSpPr>
          <p:cNvPr id="20" name="Hộp Văn bản 19">
            <a:extLst>
              <a:ext uri="{FF2B5EF4-FFF2-40B4-BE49-F238E27FC236}">
                <a16:creationId xmlns:a16="http://schemas.microsoft.com/office/drawing/2014/main" id="{A185E3B8-2B91-72B7-1AB2-DDB530BDC2ED}"/>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2093827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FBE18-F713-10C5-D290-36DBF4D07B5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811D0A2-DDDE-53C5-E2A7-E4540532F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8B0C9270-C101-E6C5-D4F5-B45CD5B8372A}"/>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5C63610D-121B-C09F-4A8F-7F582BFBD360}"/>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0D11AB17-5A43-62D5-CA28-93FF1871F5EC}"/>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4A561324-804B-E72B-2633-D88CF6FB4923}"/>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39FE7E1C-ECB4-59B2-B47F-6C160E4F9869}"/>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C5ED9F31-6C00-F154-8367-2B4F21ECF2C9}"/>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731E27E8-B52D-2CA4-AEFD-9D0FAA359A14}"/>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D72CE17C-3402-90B5-0A84-9AEE04B140BB}"/>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E145381B-5070-6E67-AC40-2ACC15276BF7}"/>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B95AC033-AF34-0CC2-8B28-258AB510A0E6}"/>
              </a:ext>
            </a:extLst>
          </p:cNvPr>
          <p:cNvSpPr txBox="1"/>
          <p:nvPr/>
        </p:nvSpPr>
        <p:spPr>
          <a:xfrm>
            <a:off x="15833" y="1252118"/>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65679F76-CAFF-463C-C626-DCD72E22F332}"/>
              </a:ext>
            </a:extLst>
          </p:cNvPr>
          <p:cNvSpPr txBox="1"/>
          <p:nvPr/>
        </p:nvSpPr>
        <p:spPr>
          <a:xfrm>
            <a:off x="12816840" y="4615422"/>
            <a:ext cx="7915399"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1.4 Xác định chức năng từ yêu cầu bài toán</a:t>
            </a:r>
          </a:p>
        </p:txBody>
      </p:sp>
      <p:sp>
        <p:nvSpPr>
          <p:cNvPr id="14" name="Hộp Văn bản 13">
            <a:extLst>
              <a:ext uri="{FF2B5EF4-FFF2-40B4-BE49-F238E27FC236}">
                <a16:creationId xmlns:a16="http://schemas.microsoft.com/office/drawing/2014/main" id="{95B17B36-D9F4-E03B-567A-961FFE5C7903}"/>
              </a:ext>
            </a:extLst>
          </p:cNvPr>
          <p:cNvSpPr txBox="1"/>
          <p:nvPr/>
        </p:nvSpPr>
        <p:spPr>
          <a:xfrm>
            <a:off x="12476155" y="381955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11D26578-62D4-C741-9BE3-BD012DA0E143}"/>
              </a:ext>
            </a:extLst>
          </p:cNvPr>
          <p:cNvSpPr txBox="1"/>
          <p:nvPr/>
        </p:nvSpPr>
        <p:spPr>
          <a:xfrm>
            <a:off x="1493909" y="3217704"/>
            <a:ext cx="1767247"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Yêu cầu bài toán</a:t>
            </a:r>
          </a:p>
        </p:txBody>
      </p:sp>
      <p:sp>
        <p:nvSpPr>
          <p:cNvPr id="18" name="Hộp Văn bản 17">
            <a:extLst>
              <a:ext uri="{FF2B5EF4-FFF2-40B4-BE49-F238E27FC236}">
                <a16:creationId xmlns:a16="http://schemas.microsoft.com/office/drawing/2014/main" id="{8B0560C6-6FD7-1A8A-093B-C07429E31ED8}"/>
              </a:ext>
            </a:extLst>
          </p:cNvPr>
          <p:cNvSpPr txBox="1"/>
          <p:nvPr/>
        </p:nvSpPr>
        <p:spPr>
          <a:xfrm>
            <a:off x="5228466" y="2017375"/>
            <a:ext cx="6110094"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Database</a:t>
            </a:r>
            <a:r>
              <a:rPr lang="vi-VN" sz="2400" dirty="0">
                <a:solidFill>
                  <a:schemeClr val="tx1"/>
                </a:solidFill>
                <a:latin typeface="Arial Bold" panose="020B0704020202020204" pitchFamily="34" charset="0"/>
                <a:cs typeface="Arial Bold" panose="020B0704020202020204" pitchFamily="34" charset="0"/>
              </a:rPr>
              <a:t> lưu trữ, thống kê các giá trị cảm biến, lịch sử tưới (hệ thống hoạt động)</a:t>
            </a:r>
          </a:p>
        </p:txBody>
      </p:sp>
      <p:sp>
        <p:nvSpPr>
          <p:cNvPr id="19" name="Hộp Văn bản 18">
            <a:extLst>
              <a:ext uri="{FF2B5EF4-FFF2-40B4-BE49-F238E27FC236}">
                <a16:creationId xmlns:a16="http://schemas.microsoft.com/office/drawing/2014/main" id="{7683DCFA-7FC0-E1F7-D120-0A96F6454CE8}"/>
              </a:ext>
            </a:extLst>
          </p:cNvPr>
          <p:cNvSpPr txBox="1"/>
          <p:nvPr/>
        </p:nvSpPr>
        <p:spPr>
          <a:xfrm>
            <a:off x="5228466" y="4196752"/>
            <a:ext cx="6110094"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Giám sát, điều chỉnh các thông số như ngưỡng độ ẩm, lịch tưới, công suất bơm, chế độ hoạt động của hệ thống</a:t>
            </a:r>
          </a:p>
        </p:txBody>
      </p:sp>
      <p:sp>
        <p:nvSpPr>
          <p:cNvPr id="20" name="Hộp Văn bản 19">
            <a:extLst>
              <a:ext uri="{FF2B5EF4-FFF2-40B4-BE49-F238E27FC236}">
                <a16:creationId xmlns:a16="http://schemas.microsoft.com/office/drawing/2014/main" id="{C52A9785-63A7-6026-5290-BDE6B7A6EBFC}"/>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3114102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A478-46E5-68FA-8DE3-9B5E514AF9A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33812DE-0B07-0B2A-D253-EAAF38720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C8075617-B1DD-74FB-8F29-5D5E44C9DBA0}"/>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0C549390-DB6C-3CC0-4977-C3B03D5A3985}"/>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450E6042-72A1-7C42-4FD1-E6E39442C6C9}"/>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760CC08A-A44C-CF7E-077B-D1865960A3AA}"/>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B86E5CA4-6E77-7B75-F6F4-4CDD4FBCBE27}"/>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26DC0EDB-953E-34BB-2C78-8194F67C3666}"/>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AD9D1528-139F-5CEC-3B9E-88203971FEB9}"/>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F8997D54-F888-2490-A477-B0F9A8F3B6F4}"/>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90B81569-C486-F7D3-CA2F-61276AFE79FD}"/>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7C95A3BC-5E0F-25A3-E0D4-004343EAF35F}"/>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B27D754F-0E0E-1311-7D96-6A4865F81913}"/>
              </a:ext>
            </a:extLst>
          </p:cNvPr>
          <p:cNvSpPr txBox="1"/>
          <p:nvPr/>
        </p:nvSpPr>
        <p:spPr>
          <a:xfrm>
            <a:off x="0" y="1211325"/>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4BCA5052-FD0C-B38B-239F-82236C6DC1AE}"/>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4CB1193A-8BF0-822C-6335-7CA43034F458}"/>
              </a:ext>
            </a:extLst>
          </p:cNvPr>
          <p:cNvSpPr txBox="1"/>
          <p:nvPr/>
        </p:nvSpPr>
        <p:spPr>
          <a:xfrm>
            <a:off x="1723519" y="3569285"/>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F9F54324-E35D-7366-0A5D-DB72DD434A9D}"/>
              </a:ext>
            </a:extLst>
          </p:cNvPr>
          <p:cNvSpPr txBox="1"/>
          <p:nvPr/>
        </p:nvSpPr>
        <p:spPr>
          <a:xfrm>
            <a:off x="5228466" y="1959417"/>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120F8278-80E2-9100-CFFD-CC7DF5901736}"/>
              </a:ext>
            </a:extLst>
          </p:cNvPr>
          <p:cNvSpPr txBox="1"/>
          <p:nvPr/>
        </p:nvSpPr>
        <p:spPr>
          <a:xfrm>
            <a:off x="5256264" y="2958772"/>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8A34A153-3E2D-924F-934C-73C7E62A7F18}"/>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1378D3BA-C847-CD3C-029D-062CE1A9A6F6}"/>
              </a:ext>
            </a:extLst>
          </p:cNvPr>
          <p:cNvSpPr txBox="1"/>
          <p:nvPr/>
        </p:nvSpPr>
        <p:spPr>
          <a:xfrm>
            <a:off x="5228466" y="3958127"/>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 (Schedule)</a:t>
            </a:r>
          </a:p>
        </p:txBody>
      </p:sp>
      <p:sp>
        <p:nvSpPr>
          <p:cNvPr id="27" name="Hộp Văn bản 26">
            <a:extLst>
              <a:ext uri="{FF2B5EF4-FFF2-40B4-BE49-F238E27FC236}">
                <a16:creationId xmlns:a16="http://schemas.microsoft.com/office/drawing/2014/main" id="{A508DB19-7DA2-AF81-0E12-6A4DB5F50634}"/>
              </a:ext>
            </a:extLst>
          </p:cNvPr>
          <p:cNvSpPr txBox="1"/>
          <p:nvPr/>
        </p:nvSpPr>
        <p:spPr>
          <a:xfrm>
            <a:off x="-5180992" y="3295863"/>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29" name="Hộp Văn bản 28">
            <a:extLst>
              <a:ext uri="{FF2B5EF4-FFF2-40B4-BE49-F238E27FC236}">
                <a16:creationId xmlns:a16="http://schemas.microsoft.com/office/drawing/2014/main" id="{A6F921CE-A8D2-89E5-5113-662E89BEC9E7}"/>
              </a:ext>
            </a:extLst>
          </p:cNvPr>
          <p:cNvSpPr txBox="1"/>
          <p:nvPr/>
        </p:nvSpPr>
        <p:spPr>
          <a:xfrm>
            <a:off x="5256264" y="5326814"/>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Chế độ </a:t>
            </a:r>
            <a:r>
              <a:rPr lang="vi-VN" sz="2400" dirty="0" err="1">
                <a:solidFill>
                  <a:schemeClr val="tx1"/>
                </a:solidFill>
                <a:latin typeface="Arial Bold" panose="020B0704020202020204" pitchFamily="34" charset="0"/>
                <a:cs typeface="Arial Bold" panose="020B0704020202020204" pitchFamily="34" charset="0"/>
              </a:rPr>
              <a:t>Sleep</a:t>
            </a:r>
            <a:r>
              <a:rPr lang="vi-VN" sz="2400" dirty="0">
                <a:solidFill>
                  <a:schemeClr val="tx1"/>
                </a:solidFill>
                <a:latin typeface="Arial Bold" panose="020B0704020202020204" pitchFamily="34" charset="0"/>
                <a:cs typeface="Arial Bold" panose="020B0704020202020204" pitchFamily="34" charset="0"/>
              </a:rPr>
              <a:t> tiết kiệm điện năng</a:t>
            </a:r>
          </a:p>
        </p:txBody>
      </p:sp>
    </p:spTree>
    <p:extLst>
      <p:ext uri="{BB962C8B-B14F-4D97-AF65-F5344CB8AC3E}">
        <p14:creationId xmlns:p14="http://schemas.microsoft.com/office/powerpoint/2010/main" val="561724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6628-2F7B-4664-4255-A484C11B40C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D390B33-C756-C8CB-C2B3-99AF637E8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2816840" y="-252824"/>
            <a:ext cx="2209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9470F916-E202-CC2B-E11B-9299E4A7C50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6B68BBB2-99DF-E1C3-5648-09360D738EE5}"/>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E44DA05A-2D79-0370-CC46-C84AAE721656}"/>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DFA1FAE4-9790-0287-025E-84D53B1E83B8}"/>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0A437BC9-D9C0-B30F-6CB5-16FE281A3F6B}"/>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460EA287-63CB-D0A9-EFD0-F8CCF1D4F6C0}"/>
              </a:ext>
            </a:extLst>
          </p:cNvPr>
          <p:cNvSpPr txBox="1"/>
          <p:nvPr/>
        </p:nvSpPr>
        <p:spPr>
          <a:xfrm>
            <a:off x="0" y="196126"/>
            <a:ext cx="6964877"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1 : Mô tả bài toán </a:t>
            </a:r>
          </a:p>
        </p:txBody>
      </p:sp>
      <p:sp>
        <p:nvSpPr>
          <p:cNvPr id="8" name="Hộp Văn bản 7">
            <a:extLst>
              <a:ext uri="{FF2B5EF4-FFF2-40B4-BE49-F238E27FC236}">
                <a16:creationId xmlns:a16="http://schemas.microsoft.com/office/drawing/2014/main" id="{6A7C5DCB-FA23-ECFD-11E9-E284999FA448}"/>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70E0103A-26DD-0558-69BF-A599027D3582}"/>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F86C9F48-5E18-8C1C-0349-AAA84AF16576}"/>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5E952DF0-6506-C33E-9205-426DDB2CD688}"/>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FB29EB9B-F87F-91BA-6362-760CAE4E94FC}"/>
              </a:ext>
            </a:extLst>
          </p:cNvPr>
          <p:cNvSpPr txBox="1"/>
          <p:nvPr/>
        </p:nvSpPr>
        <p:spPr>
          <a:xfrm>
            <a:off x="0" y="1211325"/>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526B2D55-42DB-4F18-53F3-C1BA4B9733CE}"/>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D1CF411E-2545-9072-44F7-7001BAF88319}"/>
              </a:ext>
            </a:extLst>
          </p:cNvPr>
          <p:cNvSpPr txBox="1"/>
          <p:nvPr/>
        </p:nvSpPr>
        <p:spPr>
          <a:xfrm>
            <a:off x="1079639" y="3914524"/>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4AED05E4-8D50-2004-71D9-38529607F4F6}"/>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BF84DFF3-62E8-AB43-BAC1-67D4DA7331F4}"/>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099DEC8D-6D91-8604-41A0-799B02A12D41}"/>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98711194-3B47-EF98-D485-94E62E7C4322}"/>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F0285A7E-4499-97C6-EA3A-55EF64488756}"/>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EA4DC18F-6267-BED7-498B-76E5D27E1B8F}"/>
              </a:ext>
            </a:extLst>
          </p:cNvPr>
          <p:cNvSpPr txBox="1"/>
          <p:nvPr/>
        </p:nvSpPr>
        <p:spPr>
          <a:xfrm>
            <a:off x="5134541" y="4437744"/>
            <a:ext cx="6061133"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5" name="Hộp Văn bản 14">
            <a:extLst>
              <a:ext uri="{FF2B5EF4-FFF2-40B4-BE49-F238E27FC236}">
                <a16:creationId xmlns:a16="http://schemas.microsoft.com/office/drawing/2014/main" id="{11D1B8BD-8171-36F3-5280-AADD1A998461}"/>
              </a:ext>
            </a:extLst>
          </p:cNvPr>
          <p:cNvSpPr txBox="1"/>
          <p:nvPr/>
        </p:nvSpPr>
        <p:spPr>
          <a:xfrm>
            <a:off x="-4496336" y="4176134"/>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11FF016A-FD84-1A72-7DE3-E15E71DD5B11}"/>
              </a:ext>
            </a:extLst>
          </p:cNvPr>
          <p:cNvSpPr txBox="1"/>
          <p:nvPr/>
        </p:nvSpPr>
        <p:spPr>
          <a:xfrm>
            <a:off x="5134542" y="1903507"/>
            <a:ext cx="605456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1F8DA1F5-CE1A-39B9-6418-AC0985CC5870}"/>
              </a:ext>
            </a:extLst>
          </p:cNvPr>
          <p:cNvSpPr txBox="1"/>
          <p:nvPr/>
        </p:nvSpPr>
        <p:spPr>
          <a:xfrm>
            <a:off x="5121410" y="2975805"/>
            <a:ext cx="6074264"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8DA81316-DA8F-64B3-9676-3FDF8B1EECEF}"/>
              </a:ext>
            </a:extLst>
          </p:cNvPr>
          <p:cNvSpPr txBox="1"/>
          <p:nvPr/>
        </p:nvSpPr>
        <p:spPr>
          <a:xfrm>
            <a:off x="5127976" y="5567647"/>
            <a:ext cx="606113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Hỗ trợ cập nhật </a:t>
            </a:r>
            <a:r>
              <a:rPr lang="vi-VN" sz="2400" dirty="0" err="1">
                <a:solidFill>
                  <a:schemeClr val="tx1"/>
                </a:solidFill>
                <a:latin typeface="Arial Bold" panose="020B0704020202020204" pitchFamily="34" charset="0"/>
                <a:cs typeface="Arial Bold" panose="020B0704020202020204" pitchFamily="34" charset="0"/>
              </a:rPr>
              <a:t>Firmware</a:t>
            </a:r>
            <a:r>
              <a:rPr lang="vi-VN" sz="2400" dirty="0">
                <a:solidFill>
                  <a:schemeClr val="tx1"/>
                </a:solidFill>
                <a:latin typeface="Arial Bold" panose="020B0704020202020204" pitchFamily="34" charset="0"/>
                <a:cs typeface="Arial Bold" panose="020B0704020202020204" pitchFamily="34" charset="0"/>
              </a:rPr>
              <a:t> thiết bị từ xa (</a:t>
            </a:r>
            <a:r>
              <a:rPr lang="vi-VN" sz="2400" dirty="0" err="1">
                <a:solidFill>
                  <a:schemeClr val="tx1"/>
                </a:solidFill>
                <a:latin typeface="Arial Bold" panose="020B0704020202020204" pitchFamily="34" charset="0"/>
                <a:cs typeface="Arial Bold" panose="020B0704020202020204" pitchFamily="34" charset="0"/>
              </a:rPr>
              <a:t>ElegantOTA</a:t>
            </a:r>
            <a:r>
              <a:rPr lang="vi-VN" sz="2400" dirty="0">
                <a:solidFill>
                  <a:schemeClr val="tx1"/>
                </a:solidFill>
                <a:latin typeface="Arial Bold" panose="020B0704020202020204" pitchFamily="34" charset="0"/>
                <a:cs typeface="Arial Bold" panose="020B0704020202020204" pitchFamily="34" charset="0"/>
              </a:rPr>
              <a:t>) nhờ mạng </a:t>
            </a:r>
            <a:r>
              <a:rPr lang="vi-VN" sz="2400" dirty="0" err="1">
                <a:solidFill>
                  <a:schemeClr val="tx1"/>
                </a:solidFill>
                <a:latin typeface="Arial Bold" panose="020B0704020202020204" pitchFamily="34" charset="0"/>
                <a:cs typeface="Arial Bold" panose="020B0704020202020204" pitchFamily="34" charset="0"/>
              </a:rPr>
              <a:t>WIFI</a:t>
            </a:r>
            <a:endParaRPr lang="vi-VN" sz="2400"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4119431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C6AF-709F-7E3F-F1E8-33CBB9A82E2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11D623D-4645-3CE6-97D7-63B34DC270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628122" y="0"/>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51654036-1692-7B6F-5C22-52F411309EA1}"/>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8F94CB57-63CA-87D6-0544-A2237E17C0DC}"/>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84F7E4DC-F572-DC17-76D4-570221561E7A}"/>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8A4A5DE2-8755-773E-F8E5-2C3852626D9B}"/>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DE506419-391B-6E28-6C0F-97135B0B98D5}"/>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D3BDAB0A-19C5-22F5-66F7-035B3ECD167E}"/>
              </a:ext>
            </a:extLst>
          </p:cNvPr>
          <p:cNvSpPr txBox="1"/>
          <p:nvPr/>
        </p:nvSpPr>
        <p:spPr>
          <a:xfrm>
            <a:off x="0" y="196126"/>
            <a:ext cx="7982882" cy="1569660"/>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077B97F1-2484-CC20-0074-7AF20673FDED}"/>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14063EE9-457E-E1AD-46E1-79D475CD3362}"/>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437DBF03-8792-F8BE-3B2C-959FA73CE451}"/>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F976ED31-5B5C-45EA-B542-41076F5C730C}"/>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2A183668-0293-BF64-80F3-532AEEDAC136}"/>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97610190-7A3E-3C84-7127-350DC048BFE7}"/>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5D6E3AFA-1B38-B664-7015-B7104AD2605A}"/>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B63ACDEE-E38C-F5F3-64AF-075E8A945058}"/>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C825FB01-9051-9606-960C-BA11BBB9819E}"/>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C78A8B75-3985-AD19-9130-AA11C4D99C94}"/>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288A3158-437E-F7BD-A5FA-AA1F795D76AA}"/>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F004749F-ADC5-1BF8-D4AB-7F69A2F68EAB}"/>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C2656877-0BA5-0809-C1B6-4F273ADDEE2C}"/>
              </a:ext>
            </a:extLst>
          </p:cNvPr>
          <p:cNvSpPr txBox="1"/>
          <p:nvPr/>
        </p:nvSpPr>
        <p:spPr>
          <a:xfrm>
            <a:off x="2947313" y="-1810940"/>
            <a:ext cx="522654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5" name="Hộp Văn bản 14">
            <a:extLst>
              <a:ext uri="{FF2B5EF4-FFF2-40B4-BE49-F238E27FC236}">
                <a16:creationId xmlns:a16="http://schemas.microsoft.com/office/drawing/2014/main" id="{174B13F5-F535-E359-8759-6E4B5B0D833D}"/>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F0E71131-DB65-9211-896B-2676C1C4D587}"/>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67281A81-6405-BC0F-3DA5-867AEC0E8031}"/>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4" name="Hộp Văn bản 23">
            <a:extLst>
              <a:ext uri="{FF2B5EF4-FFF2-40B4-BE49-F238E27FC236}">
                <a16:creationId xmlns:a16="http://schemas.microsoft.com/office/drawing/2014/main" id="{8FD65F16-D19A-D8E0-13EB-825DA9698B88}"/>
              </a:ext>
            </a:extLst>
          </p:cNvPr>
          <p:cNvSpPr txBox="1"/>
          <p:nvPr/>
        </p:nvSpPr>
        <p:spPr>
          <a:xfrm>
            <a:off x="994295" y="3527063"/>
            <a:ext cx="5227226"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2.2 Xây dựng </a:t>
            </a:r>
            <a:r>
              <a:rPr lang="vi-VN" sz="2800" dirty="0" err="1">
                <a:solidFill>
                  <a:schemeClr val="bg1"/>
                </a:solidFill>
                <a:latin typeface="Arial Bold" panose="020B0704020202020204" pitchFamily="34" charset="0"/>
                <a:cs typeface="Arial Bold" panose="020B0704020202020204" pitchFamily="34" charset="0"/>
              </a:rPr>
              <a:t>System</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Module</a:t>
            </a:r>
            <a:r>
              <a:rPr lang="vi-VN" sz="2800" dirty="0">
                <a:solidFill>
                  <a:schemeClr val="bg1"/>
                </a:solidFill>
                <a:latin typeface="Arial Bold" panose="020B0704020202020204" pitchFamily="34" charset="0"/>
                <a:cs typeface="Arial Bold" panose="020B0704020202020204" pitchFamily="34" charset="0"/>
              </a:rPr>
              <a:t> </a:t>
            </a:r>
          </a:p>
        </p:txBody>
      </p:sp>
      <p:sp>
        <p:nvSpPr>
          <p:cNvPr id="25" name="Hộp Văn bản 24">
            <a:extLst>
              <a:ext uri="{FF2B5EF4-FFF2-40B4-BE49-F238E27FC236}">
                <a16:creationId xmlns:a16="http://schemas.microsoft.com/office/drawing/2014/main" id="{A6FD47AF-F2FB-7FE8-9547-8E0EEE849F6B}"/>
              </a:ext>
            </a:extLst>
          </p:cNvPr>
          <p:cNvSpPr txBox="1"/>
          <p:nvPr/>
        </p:nvSpPr>
        <p:spPr>
          <a:xfrm>
            <a:off x="716280" y="2054097"/>
            <a:ext cx="6405110" cy="954107"/>
          </a:xfrm>
          <a:prstGeom prst="rect">
            <a:avLst/>
          </a:prstGeom>
          <a:noFill/>
        </p:spPr>
        <p:txBody>
          <a:bodyPr wrap="square" rtlCol="0">
            <a:spAutoFit/>
          </a:bodyPr>
          <a:lstStyle/>
          <a:p>
            <a:pPr algn="ctr"/>
            <a:r>
              <a:rPr lang="vi-VN" sz="2800" dirty="0">
                <a:solidFill>
                  <a:schemeClr val="bg1"/>
                </a:solidFill>
                <a:latin typeface="Arial Bold" panose="020B0704020202020204" pitchFamily="34" charset="0"/>
                <a:cs typeface="Arial Bold" panose="020B0704020202020204" pitchFamily="34" charset="0"/>
              </a:rPr>
              <a:t>2.1 Giới thiệu các thiết bị sử dụng cho hệ thống</a:t>
            </a:r>
          </a:p>
        </p:txBody>
      </p:sp>
      <p:sp>
        <p:nvSpPr>
          <p:cNvPr id="26" name="Hộp Văn bản 25">
            <a:extLst>
              <a:ext uri="{FF2B5EF4-FFF2-40B4-BE49-F238E27FC236}">
                <a16:creationId xmlns:a16="http://schemas.microsoft.com/office/drawing/2014/main" id="{ADF91C93-8770-95A1-FD8F-12E7F83CB74B}"/>
              </a:ext>
            </a:extLst>
          </p:cNvPr>
          <p:cNvSpPr txBox="1"/>
          <p:nvPr/>
        </p:nvSpPr>
        <p:spPr>
          <a:xfrm>
            <a:off x="931700" y="4568995"/>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Tree>
    <p:extLst>
      <p:ext uri="{BB962C8B-B14F-4D97-AF65-F5344CB8AC3E}">
        <p14:creationId xmlns:p14="http://schemas.microsoft.com/office/powerpoint/2010/main" val="1466843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AA7DC-8E52-A758-C078-3B7B5141859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225689A-B066-85BE-8713-F67248705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360601"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57DBF861-4595-3F49-7224-58D58A6282E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B0DB0D43-5F0B-D3F4-484B-F30EEC8AC52F}"/>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1BB2F040-8EF5-E48E-7A17-9996D47AE2F7}"/>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E2C097E5-DF01-64C0-CF01-16D3E4D186F6}"/>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8E853F5E-B2F4-421F-4086-9E9B29F1D370}"/>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C50B8D32-7F0C-8A3E-C59D-51737DCCA2C3}"/>
              </a:ext>
            </a:extLst>
          </p:cNvPr>
          <p:cNvSpPr txBox="1"/>
          <p:nvPr/>
        </p:nvSpPr>
        <p:spPr>
          <a:xfrm>
            <a:off x="0" y="196126"/>
            <a:ext cx="11567160"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E28FE14C-B5D8-7E71-92AD-F52D60AD3D0E}"/>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C60977B5-A07F-F282-ADE0-8110DA1F4504}"/>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1C18ADC7-AA82-74F3-58DA-F0B37FEA6100}"/>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8C6B1D00-0CEF-E677-0567-DEB318AC4131}"/>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D999123F-F718-5A79-A4D8-4C3F6C35586C}"/>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0C2F4CA7-C6EA-86BB-E36F-6FCA9F49CF6F}"/>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40A724CC-9A11-01E5-87C1-33936146817D}"/>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EAEF9226-D02F-4ACB-4602-C9575401CB8C}"/>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AAFCB78C-8F7B-92B2-C92C-4E28A75F0791}"/>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3A75081E-29F9-D409-4877-5B02439FA01B}"/>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5D6BD18B-BFFA-835B-9E4F-223339A6BB91}"/>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EA2C6C22-9F3A-9853-DE6D-45CEA9CF325C}"/>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2FE54B78-CF70-AC55-4351-F1DE54D0B2DC}"/>
              </a:ext>
            </a:extLst>
          </p:cNvPr>
          <p:cNvSpPr txBox="1"/>
          <p:nvPr/>
        </p:nvSpPr>
        <p:spPr>
          <a:xfrm>
            <a:off x="20556" y="2554177"/>
            <a:ext cx="5161044" cy="120459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Bộ điều khiển trung tâm, xử lý dữ liệu cảm biến và điều khiển bơm.</a:t>
            </a:r>
          </a:p>
        </p:txBody>
      </p:sp>
      <p:sp>
        <p:nvSpPr>
          <p:cNvPr id="15" name="Hộp Văn bản 14">
            <a:extLst>
              <a:ext uri="{FF2B5EF4-FFF2-40B4-BE49-F238E27FC236}">
                <a16:creationId xmlns:a16="http://schemas.microsoft.com/office/drawing/2014/main" id="{C50117B3-3810-6C16-728B-0A19F952EF91}"/>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4A9A4A26-7F89-0343-B35D-0C4686974F21}"/>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F2149920-5CAB-E2CB-5C6B-7BA2ACD5DD85}"/>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4" name="Hộp Văn bản 23">
            <a:extLst>
              <a:ext uri="{FF2B5EF4-FFF2-40B4-BE49-F238E27FC236}">
                <a16:creationId xmlns:a16="http://schemas.microsoft.com/office/drawing/2014/main" id="{0E16FCB1-A9BF-E20C-36E6-426FBBB2540F}"/>
              </a:ext>
            </a:extLst>
          </p:cNvPr>
          <p:cNvSpPr txBox="1"/>
          <p:nvPr/>
        </p:nvSpPr>
        <p:spPr>
          <a:xfrm>
            <a:off x="-7527943" y="4525746"/>
            <a:ext cx="5227226"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2.2 Xây dựng </a:t>
            </a:r>
            <a:r>
              <a:rPr lang="vi-VN" sz="2800" dirty="0" err="1">
                <a:solidFill>
                  <a:schemeClr val="bg1"/>
                </a:solidFill>
                <a:latin typeface="Arial Bold" panose="020B0704020202020204" pitchFamily="34" charset="0"/>
                <a:cs typeface="Arial Bold" panose="020B0704020202020204" pitchFamily="34" charset="0"/>
              </a:rPr>
              <a:t>System</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Module</a:t>
            </a:r>
            <a:r>
              <a:rPr lang="vi-VN" sz="2800" dirty="0">
                <a:solidFill>
                  <a:schemeClr val="bg1"/>
                </a:solidFill>
                <a:latin typeface="Arial Bold" panose="020B0704020202020204" pitchFamily="34" charset="0"/>
                <a:cs typeface="Arial Bold" panose="020B0704020202020204" pitchFamily="34" charset="0"/>
              </a:rPr>
              <a:t> </a:t>
            </a:r>
          </a:p>
        </p:txBody>
      </p:sp>
      <p:sp>
        <p:nvSpPr>
          <p:cNvPr id="25" name="Hộp Văn bản 24">
            <a:extLst>
              <a:ext uri="{FF2B5EF4-FFF2-40B4-BE49-F238E27FC236}">
                <a16:creationId xmlns:a16="http://schemas.microsoft.com/office/drawing/2014/main" id="{F48ADBB6-1F71-D9AE-FB66-BFB7D337EF46}"/>
              </a:ext>
            </a:extLst>
          </p:cNvPr>
          <p:cNvSpPr txBox="1"/>
          <p:nvPr/>
        </p:nvSpPr>
        <p:spPr>
          <a:xfrm>
            <a:off x="-426719" y="1318732"/>
            <a:ext cx="9307843" cy="523220"/>
          </a:xfrm>
          <a:prstGeom prst="rect">
            <a:avLst/>
          </a:prstGeom>
          <a:noFill/>
        </p:spPr>
        <p:txBody>
          <a:bodyPr wrap="square" rtlCol="0">
            <a:spAutoFit/>
          </a:bodyPr>
          <a:lstStyle/>
          <a:p>
            <a:pPr algn="ctr"/>
            <a:r>
              <a:rPr lang="vi-VN" sz="2800" dirty="0">
                <a:solidFill>
                  <a:schemeClr val="bg1"/>
                </a:solidFill>
                <a:latin typeface="Arial Bold" panose="020B0704020202020204" pitchFamily="34" charset="0"/>
                <a:cs typeface="Arial Bold" panose="020B0704020202020204" pitchFamily="34" charset="0"/>
              </a:rPr>
              <a:t>2.1 Giới thiệu các thiết bị sử dụng cho hệ thống</a:t>
            </a:r>
          </a:p>
        </p:txBody>
      </p:sp>
      <p:sp>
        <p:nvSpPr>
          <p:cNvPr id="26" name="Hộp Văn bản 25">
            <a:extLst>
              <a:ext uri="{FF2B5EF4-FFF2-40B4-BE49-F238E27FC236}">
                <a16:creationId xmlns:a16="http://schemas.microsoft.com/office/drawing/2014/main" id="{C4600E6C-741F-C795-55DC-17F2A0050A24}"/>
              </a:ext>
            </a:extLst>
          </p:cNvPr>
          <p:cNvSpPr txBox="1"/>
          <p:nvPr/>
        </p:nvSpPr>
        <p:spPr>
          <a:xfrm>
            <a:off x="-7590538" y="5567678"/>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3" name="Hộp Văn bản 22">
            <a:extLst>
              <a:ext uri="{FF2B5EF4-FFF2-40B4-BE49-F238E27FC236}">
                <a16:creationId xmlns:a16="http://schemas.microsoft.com/office/drawing/2014/main" id="{8D62EB63-A32E-0AF6-1FBE-016EFCA12EEB}"/>
              </a:ext>
            </a:extLst>
          </p:cNvPr>
          <p:cNvSpPr txBox="1"/>
          <p:nvPr/>
        </p:nvSpPr>
        <p:spPr>
          <a:xfrm>
            <a:off x="20556" y="4363088"/>
            <a:ext cx="5161044"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ESP32: </a:t>
            </a:r>
            <a:r>
              <a:rPr lang="vi-VN" sz="2400" b="1" dirty="0" err="1">
                <a:solidFill>
                  <a:schemeClr val="tx1"/>
                </a:solidFill>
                <a:latin typeface="Arial Bold" panose="020B0704020202020204" pitchFamily="34" charset="0"/>
                <a:cs typeface="Arial Bold" panose="020B0704020202020204" pitchFamily="34" charset="0"/>
              </a:rPr>
              <a:t>Module</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Wi-Fi</a:t>
            </a:r>
            <a:r>
              <a:rPr lang="vi-VN" sz="2400" b="1" dirty="0">
                <a:solidFill>
                  <a:schemeClr val="tx1"/>
                </a:solidFill>
                <a:latin typeface="Arial Bold" panose="020B0704020202020204" pitchFamily="34" charset="0"/>
                <a:cs typeface="Arial Bold" panose="020B0704020202020204" pitchFamily="34" charset="0"/>
              </a:rPr>
              <a:t> dùng để giao tiếp giữa hệ thống và </a:t>
            </a:r>
            <a:r>
              <a:rPr lang="vi-VN" sz="2400" b="1" dirty="0" err="1">
                <a:solidFill>
                  <a:schemeClr val="tx1"/>
                </a:solidFill>
                <a:latin typeface="Arial Bold" panose="020B0704020202020204" pitchFamily="34" charset="0"/>
                <a:cs typeface="Arial Bold" panose="020B0704020202020204" pitchFamily="34" charset="0"/>
              </a:rPr>
              <a:t>server</a:t>
            </a:r>
            <a:r>
              <a:rPr lang="vi-VN" sz="2400" b="1" dirty="0">
                <a:solidFill>
                  <a:schemeClr val="tx1"/>
                </a:solidFill>
                <a:latin typeface="Arial Bold" panose="020B0704020202020204" pitchFamily="34" charset="0"/>
                <a:cs typeface="Arial Bold" panose="020B0704020202020204" pitchFamily="34" charset="0"/>
              </a:rPr>
              <a:t>. Nhận lệnh điều khiển, gửi dữ liệu độ ẩm và trạng thái thiết bị</a:t>
            </a:r>
            <a:endParaRPr lang="vi-VN" sz="2400" dirty="0">
              <a:solidFill>
                <a:schemeClr val="tx1"/>
              </a:solidFill>
              <a:latin typeface="Arial Bold" panose="020B0704020202020204" pitchFamily="34" charset="0"/>
              <a:cs typeface="Arial Bold" panose="020B0704020202020204" pitchFamily="34" charset="0"/>
            </a:endParaRPr>
          </a:p>
        </p:txBody>
      </p:sp>
      <p:pic>
        <p:nvPicPr>
          <p:cNvPr id="28" name="Hình ảnh 27" descr="Arduino Uno - R3 Australia - Little Bird">
            <a:extLst>
              <a:ext uri="{FF2B5EF4-FFF2-40B4-BE49-F238E27FC236}">
                <a16:creationId xmlns:a16="http://schemas.microsoft.com/office/drawing/2014/main" id="{59C2B39A-6D11-75B7-3C93-DBCCB95F76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7425" y="2324486"/>
            <a:ext cx="3604019" cy="181359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2050" name="Picture 2" descr="Espressif ESP32-DevKitC-S1">
            <a:extLst>
              <a:ext uri="{FF2B5EF4-FFF2-40B4-BE49-F238E27FC236}">
                <a16:creationId xmlns:a16="http://schemas.microsoft.com/office/drawing/2014/main" id="{8F1D44B1-F075-41EC-7109-44EAEEB9CB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413" y="4138084"/>
            <a:ext cx="2212975" cy="221297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497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8C31-282C-E01F-418F-4FB5D29CA71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F670647-07E1-8A37-CCBA-2F0FCC09E5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360601"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12BFD7B5-2DD2-DA0C-1C8B-480D47843D9C}"/>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F20A1607-8EAD-7955-82C3-13E2D646C8E0}"/>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6DEB11FD-13E6-81DB-BAB4-0747D05DDF93}"/>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C9789DA8-447D-EBAA-0C0A-C3DA81665F0C}"/>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4A1C6663-7D58-DB56-5D25-8EB55E0FF4AE}"/>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BDACE49F-779B-27E1-2935-0CE49E4956CE}"/>
              </a:ext>
            </a:extLst>
          </p:cNvPr>
          <p:cNvSpPr txBox="1"/>
          <p:nvPr/>
        </p:nvSpPr>
        <p:spPr>
          <a:xfrm>
            <a:off x="0" y="196126"/>
            <a:ext cx="11567160"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C3780007-A5BD-134F-D54F-BD97B0859E11}"/>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393CC62C-1DA1-39AA-6852-2A796E6BCEB4}"/>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E7ADD7EC-B115-87B3-E516-06C1174BCF5D}"/>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F6969BBA-A27D-E41A-D5D8-7D961473A898}"/>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5A54FC1F-E46E-A0E2-AADB-9A6E0423C7C8}"/>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91B2DBF2-FB00-EA56-5702-5F321F3B6CBE}"/>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D52D985A-8419-1D36-7BA3-28C805B38456}"/>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D5C6E7A6-6778-9E3F-9C65-CB0D274189B4}"/>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4B454D18-A229-BE47-7BBB-13A6E537549D}"/>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1FBDBAE8-57B8-6373-6663-714B0608A83A}"/>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A4A3AFB8-250B-AAF9-D65B-2701154746B5}"/>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0F1B7656-0297-ADB4-4271-F3F25BD7454A}"/>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882509D8-55E0-954D-B4CE-CC4639600562}"/>
              </a:ext>
            </a:extLst>
          </p:cNvPr>
          <p:cNvSpPr txBox="1"/>
          <p:nvPr/>
        </p:nvSpPr>
        <p:spPr>
          <a:xfrm>
            <a:off x="20556" y="2554177"/>
            <a:ext cx="5161044" cy="46166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a:t>Cảm biến độ ẩm đất (FS-28)</a:t>
            </a:r>
            <a:endParaRPr lang="vi-VN" sz="2400"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06949D15-275B-3526-76AC-D9A8D3002B57}"/>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79088CC2-3CD0-4500-D928-6B77B4B349AD}"/>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CEB668F1-2BFD-BD74-E737-ACA10941EF14}"/>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4" name="Hộp Văn bản 23">
            <a:extLst>
              <a:ext uri="{FF2B5EF4-FFF2-40B4-BE49-F238E27FC236}">
                <a16:creationId xmlns:a16="http://schemas.microsoft.com/office/drawing/2014/main" id="{BD58E719-EE5C-F8BB-6885-46A4883E2663}"/>
              </a:ext>
            </a:extLst>
          </p:cNvPr>
          <p:cNvSpPr txBox="1"/>
          <p:nvPr/>
        </p:nvSpPr>
        <p:spPr>
          <a:xfrm>
            <a:off x="-7527943" y="4525746"/>
            <a:ext cx="5227226"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2.2 Xây dựng </a:t>
            </a:r>
            <a:r>
              <a:rPr lang="vi-VN" sz="2800" dirty="0" err="1">
                <a:solidFill>
                  <a:schemeClr val="bg1"/>
                </a:solidFill>
                <a:latin typeface="Arial Bold" panose="020B0704020202020204" pitchFamily="34" charset="0"/>
                <a:cs typeface="Arial Bold" panose="020B0704020202020204" pitchFamily="34" charset="0"/>
              </a:rPr>
              <a:t>System</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Module</a:t>
            </a:r>
            <a:r>
              <a:rPr lang="vi-VN" sz="2800" dirty="0">
                <a:solidFill>
                  <a:schemeClr val="bg1"/>
                </a:solidFill>
                <a:latin typeface="Arial Bold" panose="020B0704020202020204" pitchFamily="34" charset="0"/>
                <a:cs typeface="Arial Bold" panose="020B0704020202020204" pitchFamily="34" charset="0"/>
              </a:rPr>
              <a:t> </a:t>
            </a:r>
          </a:p>
        </p:txBody>
      </p:sp>
      <p:sp>
        <p:nvSpPr>
          <p:cNvPr id="25" name="Hộp Văn bản 24">
            <a:extLst>
              <a:ext uri="{FF2B5EF4-FFF2-40B4-BE49-F238E27FC236}">
                <a16:creationId xmlns:a16="http://schemas.microsoft.com/office/drawing/2014/main" id="{06B98A6B-3C24-D6EB-8F91-6B65FCE68EA9}"/>
              </a:ext>
            </a:extLst>
          </p:cNvPr>
          <p:cNvSpPr txBox="1"/>
          <p:nvPr/>
        </p:nvSpPr>
        <p:spPr>
          <a:xfrm>
            <a:off x="-426719" y="1318732"/>
            <a:ext cx="9307843" cy="523220"/>
          </a:xfrm>
          <a:prstGeom prst="rect">
            <a:avLst/>
          </a:prstGeom>
          <a:noFill/>
        </p:spPr>
        <p:txBody>
          <a:bodyPr wrap="square" rtlCol="0">
            <a:spAutoFit/>
          </a:bodyPr>
          <a:lstStyle/>
          <a:p>
            <a:pPr algn="ctr"/>
            <a:r>
              <a:rPr lang="vi-VN" sz="2800" dirty="0">
                <a:solidFill>
                  <a:schemeClr val="bg1"/>
                </a:solidFill>
                <a:latin typeface="Arial Bold" panose="020B0704020202020204" pitchFamily="34" charset="0"/>
                <a:cs typeface="Arial Bold" panose="020B0704020202020204" pitchFamily="34" charset="0"/>
              </a:rPr>
              <a:t>2.1 Giới thiệu các thiết bị sử dụng cho hệ thống</a:t>
            </a:r>
          </a:p>
        </p:txBody>
      </p:sp>
      <p:sp>
        <p:nvSpPr>
          <p:cNvPr id="26" name="Hộp Văn bản 25">
            <a:extLst>
              <a:ext uri="{FF2B5EF4-FFF2-40B4-BE49-F238E27FC236}">
                <a16:creationId xmlns:a16="http://schemas.microsoft.com/office/drawing/2014/main" id="{D72DDF65-5041-2AC0-5423-2C94B6293477}"/>
              </a:ext>
            </a:extLst>
          </p:cNvPr>
          <p:cNvSpPr txBox="1"/>
          <p:nvPr/>
        </p:nvSpPr>
        <p:spPr>
          <a:xfrm>
            <a:off x="-7590538" y="5567678"/>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3" name="Hộp Văn bản 22">
            <a:extLst>
              <a:ext uri="{FF2B5EF4-FFF2-40B4-BE49-F238E27FC236}">
                <a16:creationId xmlns:a16="http://schemas.microsoft.com/office/drawing/2014/main" id="{0AC24E5B-8823-D849-B008-BA336EA88E1B}"/>
              </a:ext>
            </a:extLst>
          </p:cNvPr>
          <p:cNvSpPr txBox="1"/>
          <p:nvPr/>
        </p:nvSpPr>
        <p:spPr>
          <a:xfrm>
            <a:off x="20556" y="4363088"/>
            <a:ext cx="5161044"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Cảm biến nhiệt độ - độ ẩm không khí (DHT11)</a:t>
            </a:r>
            <a:endParaRPr lang="vi-VN" sz="2400" dirty="0">
              <a:solidFill>
                <a:schemeClr val="tx1"/>
              </a:solidFill>
              <a:latin typeface="Arial Bold" panose="020B0704020202020204" pitchFamily="34" charset="0"/>
              <a:cs typeface="Arial Bold" panose="020B0704020202020204" pitchFamily="34" charset="0"/>
            </a:endParaRPr>
          </a:p>
        </p:txBody>
      </p:sp>
      <p:pic>
        <p:nvPicPr>
          <p:cNvPr id="28" name="Hình ảnh 27" descr="Arduino Uno - R3 Australia - Little Bird">
            <a:extLst>
              <a:ext uri="{FF2B5EF4-FFF2-40B4-BE49-F238E27FC236}">
                <a16:creationId xmlns:a16="http://schemas.microsoft.com/office/drawing/2014/main" id="{D0C780D7-F3E9-9713-CE06-3A867634A0C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697" y="-5281389"/>
            <a:ext cx="3604019" cy="181359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2050" name="Picture 2" descr="Espressif ESP32-DevKitC-S1">
            <a:extLst>
              <a:ext uri="{FF2B5EF4-FFF2-40B4-BE49-F238E27FC236}">
                <a16:creationId xmlns:a16="http://schemas.microsoft.com/office/drawing/2014/main" id="{3DD5094E-C8B2-CAE7-3AFE-2D5980D5AE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5709" y="-3467791"/>
            <a:ext cx="2212975" cy="221297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7412" name="Picture 4" descr="Soil Humidity Sensor FC-28">
            <a:extLst>
              <a:ext uri="{FF2B5EF4-FFF2-40B4-BE49-F238E27FC236}">
                <a16:creationId xmlns:a16="http://schemas.microsoft.com/office/drawing/2014/main" id="{FE589A1C-FDAD-838D-9760-201376024D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8427" y="2133561"/>
            <a:ext cx="2572549" cy="239218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17414" name="Picture 6" descr="Mô-đun cảm biến nhiệt độ và độ ẩm DHT11 với các nhà sản xuất LED và nhà  cung cấp Trung Quốc - Bảng giá - Kuongshun điện tử">
            <a:extLst>
              <a:ext uri="{FF2B5EF4-FFF2-40B4-BE49-F238E27FC236}">
                <a16:creationId xmlns:a16="http://schemas.microsoft.com/office/drawing/2014/main" id="{F0E8F721-EDD9-E154-DFA0-1285BB8BDF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1526" y="3928998"/>
            <a:ext cx="2567768" cy="256776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447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673B2-4714-30A0-90BC-4B6B22B4A63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B03D907-D494-359A-87E9-998D7B8FD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360601"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9FF3EF20-9732-808E-CFD9-2F145567F590}"/>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ED23CE61-FA9B-9D31-851B-4750CBE6686D}"/>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AEF1A117-CCA8-020C-E4B4-CF5C0C819E3E}"/>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7409B74D-D0F0-5310-4346-557922F6B338}"/>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E3EADD10-EEA3-0746-919D-49741C78D74A}"/>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9962EE2-8828-7BA6-D4BB-C20058415A31}"/>
              </a:ext>
            </a:extLst>
          </p:cNvPr>
          <p:cNvSpPr txBox="1"/>
          <p:nvPr/>
        </p:nvSpPr>
        <p:spPr>
          <a:xfrm>
            <a:off x="0" y="196126"/>
            <a:ext cx="11567160"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89BEEEC0-BDDF-F1AF-DDF8-5F06DDC2451A}"/>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531EBC53-4DBC-4933-F83E-D2EAE3FADB65}"/>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F6C07229-5190-9E34-6F19-DE60468F724E}"/>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EFE753FA-B56F-D197-CD4F-993ACFAA6572}"/>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6F071731-2A75-07D5-35AE-7BE5D99A1822}"/>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1CD30E35-A175-2703-58B0-B56FFDA1DAE9}"/>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99A97970-BEF2-0BA4-4A1E-85E20B551F41}"/>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1FAAC655-F98E-C518-AE8C-276CADD8F257}"/>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ABD04359-91CF-4443-1F21-336BA89679C6}"/>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3FD7DFCA-11BB-4720-081F-24E31911C065}"/>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024389C6-7909-B4A3-EE5A-7F4B71765149}"/>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20F8B662-C7E2-AB64-6975-C2625921461F}"/>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24AEBF75-EBBD-142A-0EE0-39B002A1034F}"/>
              </a:ext>
            </a:extLst>
          </p:cNvPr>
          <p:cNvSpPr txBox="1"/>
          <p:nvPr/>
        </p:nvSpPr>
        <p:spPr>
          <a:xfrm>
            <a:off x="20556" y="2554177"/>
            <a:ext cx="5161044"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err="1"/>
              <a:t>Module</a:t>
            </a:r>
            <a:r>
              <a:rPr lang="vi-VN" sz="2400" b="1" dirty="0"/>
              <a:t> thời gian thực (DS1307): Lưu và quản lý thời gian thực, giúp hệ thống tưới đúng vào khung giờ đã cài đặt</a:t>
            </a:r>
            <a:endParaRPr lang="vi-VN" sz="2400"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8E7B2380-5CE2-B5B2-74F5-D42EF5079ABD}"/>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121420E2-0AF7-7D3A-EEBC-53A6E11662C6}"/>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8BA7E5EC-43BA-2D6E-60EC-D393E9860CF6}"/>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4" name="Hộp Văn bản 23">
            <a:extLst>
              <a:ext uri="{FF2B5EF4-FFF2-40B4-BE49-F238E27FC236}">
                <a16:creationId xmlns:a16="http://schemas.microsoft.com/office/drawing/2014/main" id="{32957125-D989-8FF3-0140-70F04A538980}"/>
              </a:ext>
            </a:extLst>
          </p:cNvPr>
          <p:cNvSpPr txBox="1"/>
          <p:nvPr/>
        </p:nvSpPr>
        <p:spPr>
          <a:xfrm>
            <a:off x="-7527943" y="4525746"/>
            <a:ext cx="5227226"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2.2 Xây dựng </a:t>
            </a:r>
            <a:r>
              <a:rPr lang="vi-VN" sz="2800" dirty="0" err="1">
                <a:solidFill>
                  <a:schemeClr val="bg1"/>
                </a:solidFill>
                <a:latin typeface="Arial Bold" panose="020B0704020202020204" pitchFamily="34" charset="0"/>
                <a:cs typeface="Arial Bold" panose="020B0704020202020204" pitchFamily="34" charset="0"/>
              </a:rPr>
              <a:t>System</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Module</a:t>
            </a:r>
            <a:r>
              <a:rPr lang="vi-VN" sz="2800" dirty="0">
                <a:solidFill>
                  <a:schemeClr val="bg1"/>
                </a:solidFill>
                <a:latin typeface="Arial Bold" panose="020B0704020202020204" pitchFamily="34" charset="0"/>
                <a:cs typeface="Arial Bold" panose="020B0704020202020204" pitchFamily="34" charset="0"/>
              </a:rPr>
              <a:t> </a:t>
            </a:r>
          </a:p>
        </p:txBody>
      </p:sp>
      <p:sp>
        <p:nvSpPr>
          <p:cNvPr id="25" name="Hộp Văn bản 24">
            <a:extLst>
              <a:ext uri="{FF2B5EF4-FFF2-40B4-BE49-F238E27FC236}">
                <a16:creationId xmlns:a16="http://schemas.microsoft.com/office/drawing/2014/main" id="{20B3C59E-F6C6-CCC8-2424-0D99C882B659}"/>
              </a:ext>
            </a:extLst>
          </p:cNvPr>
          <p:cNvSpPr txBox="1"/>
          <p:nvPr/>
        </p:nvSpPr>
        <p:spPr>
          <a:xfrm>
            <a:off x="-426719" y="1318732"/>
            <a:ext cx="9307843" cy="523220"/>
          </a:xfrm>
          <a:prstGeom prst="rect">
            <a:avLst/>
          </a:prstGeom>
          <a:noFill/>
        </p:spPr>
        <p:txBody>
          <a:bodyPr wrap="square" rtlCol="0">
            <a:spAutoFit/>
          </a:bodyPr>
          <a:lstStyle/>
          <a:p>
            <a:pPr algn="ctr"/>
            <a:r>
              <a:rPr lang="vi-VN" sz="2800" dirty="0">
                <a:solidFill>
                  <a:schemeClr val="bg1"/>
                </a:solidFill>
                <a:latin typeface="Arial Bold" panose="020B0704020202020204" pitchFamily="34" charset="0"/>
                <a:cs typeface="Arial Bold" panose="020B0704020202020204" pitchFamily="34" charset="0"/>
              </a:rPr>
              <a:t>2.1 Giới thiệu các thiết bị sử dụng cho hệ thống</a:t>
            </a:r>
          </a:p>
        </p:txBody>
      </p:sp>
      <p:sp>
        <p:nvSpPr>
          <p:cNvPr id="26" name="Hộp Văn bản 25">
            <a:extLst>
              <a:ext uri="{FF2B5EF4-FFF2-40B4-BE49-F238E27FC236}">
                <a16:creationId xmlns:a16="http://schemas.microsoft.com/office/drawing/2014/main" id="{C9B8881B-DD7D-75A4-FBCE-2861C1E0388A}"/>
              </a:ext>
            </a:extLst>
          </p:cNvPr>
          <p:cNvSpPr txBox="1"/>
          <p:nvPr/>
        </p:nvSpPr>
        <p:spPr>
          <a:xfrm>
            <a:off x="-7590538" y="5567678"/>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3" name="Hộp Văn bản 22">
            <a:extLst>
              <a:ext uri="{FF2B5EF4-FFF2-40B4-BE49-F238E27FC236}">
                <a16:creationId xmlns:a16="http://schemas.microsoft.com/office/drawing/2014/main" id="{D067F2EF-FCD1-C38A-FC17-F41AE135884B}"/>
              </a:ext>
            </a:extLst>
          </p:cNvPr>
          <p:cNvSpPr txBox="1"/>
          <p:nvPr/>
        </p:nvSpPr>
        <p:spPr>
          <a:xfrm>
            <a:off x="0" y="5141208"/>
            <a:ext cx="5161044"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err="1">
                <a:solidFill>
                  <a:schemeClr val="tx1"/>
                </a:solidFill>
                <a:latin typeface="Arial Bold" panose="020B0704020202020204" pitchFamily="34" charset="0"/>
                <a:cs typeface="Arial Bold" panose="020B0704020202020204" pitchFamily="34" charset="0"/>
              </a:rPr>
              <a:t>Motor</a:t>
            </a:r>
            <a:r>
              <a:rPr lang="vi-VN" sz="2400" b="1" dirty="0">
                <a:solidFill>
                  <a:schemeClr val="tx1"/>
                </a:solidFill>
                <a:latin typeface="Arial Bold" panose="020B0704020202020204" pitchFamily="34" charset="0"/>
                <a:cs typeface="Arial Bold" panose="020B0704020202020204" pitchFamily="34" charset="0"/>
              </a:rPr>
              <a:t>: Bơm nước từ bể nước ra cây trồng</a:t>
            </a:r>
            <a:endParaRPr lang="vi-VN" sz="2400" dirty="0">
              <a:solidFill>
                <a:schemeClr val="tx1"/>
              </a:solidFill>
              <a:latin typeface="Arial Bold" panose="020B0704020202020204" pitchFamily="34" charset="0"/>
              <a:cs typeface="Arial Bold" panose="020B0704020202020204" pitchFamily="34" charset="0"/>
            </a:endParaRPr>
          </a:p>
        </p:txBody>
      </p:sp>
      <p:pic>
        <p:nvPicPr>
          <p:cNvPr id="28" name="Hình ảnh 27" descr="Arduino Uno - R3 Australia - Little Bird">
            <a:extLst>
              <a:ext uri="{FF2B5EF4-FFF2-40B4-BE49-F238E27FC236}">
                <a16:creationId xmlns:a16="http://schemas.microsoft.com/office/drawing/2014/main" id="{A1A097EB-73DB-7EF2-4F2E-C64AC3B9638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697" y="-5281389"/>
            <a:ext cx="3604019" cy="181359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2050" name="Picture 2" descr="Espressif ESP32-DevKitC-S1">
            <a:extLst>
              <a:ext uri="{FF2B5EF4-FFF2-40B4-BE49-F238E27FC236}">
                <a16:creationId xmlns:a16="http://schemas.microsoft.com/office/drawing/2014/main" id="{19C6A99C-79A5-34BE-36CC-BD6F924B64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5709" y="-3467791"/>
            <a:ext cx="2212975" cy="221297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7412" name="Picture 4" descr="Soil Humidity Sensor FC-28">
            <a:extLst>
              <a:ext uri="{FF2B5EF4-FFF2-40B4-BE49-F238E27FC236}">
                <a16:creationId xmlns:a16="http://schemas.microsoft.com/office/drawing/2014/main" id="{DCC1F2B5-83FF-CDD5-E329-42FB6BDB62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9056" y="-5517106"/>
            <a:ext cx="2572549" cy="239218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17414" name="Picture 6" descr="Mô-đun cảm biến nhiệt độ và độ ẩm DHT11 với các nhà sản xuất LED và nhà  cung cấp Trung Quốc - Bảng giá - Kuongshun điện tử">
            <a:extLst>
              <a:ext uri="{FF2B5EF4-FFF2-40B4-BE49-F238E27FC236}">
                <a16:creationId xmlns:a16="http://schemas.microsoft.com/office/drawing/2014/main" id="{BD17BB28-AD98-E952-36B5-71674BB339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2155" y="-3721669"/>
            <a:ext cx="2567768" cy="256776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pic>
        <p:nvPicPr>
          <p:cNvPr id="18434" name="Picture 2" descr="Module thời gian thực RTC DS1307 (Kèm pin)">
            <a:extLst>
              <a:ext uri="{FF2B5EF4-FFF2-40B4-BE49-F238E27FC236}">
                <a16:creationId xmlns:a16="http://schemas.microsoft.com/office/drawing/2014/main" id="{47F6F437-34A2-3398-757A-20AC92E215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451" y="2047334"/>
            <a:ext cx="2367901" cy="23679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8436" name="Picture 4" descr="Động cơ F130 DC motor mini DIY">
            <a:extLst>
              <a:ext uri="{FF2B5EF4-FFF2-40B4-BE49-F238E27FC236}">
                <a16:creationId xmlns:a16="http://schemas.microsoft.com/office/drawing/2014/main" id="{2E8A2F59-67F0-E008-92D0-89034EE59E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48382" y="4159645"/>
            <a:ext cx="2618778" cy="21817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157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7AEDD-0B3B-C3EE-7326-20F2D39C325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380CBC4-C6BC-5AE5-D665-F73993E36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360601"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F1F5AA76-03BC-E740-811D-55198C8F60E6}"/>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D4867D17-3BD2-ECD1-1B6A-6FE2C6CBCC89}"/>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20DC6200-D1AC-144B-02F2-E2B3FD88664B}"/>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557C3B43-443A-72B3-6458-3512963BBB44}"/>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F8F75599-A195-C120-C288-82A7B0A0A4FE}"/>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E9C65909-8D67-BD70-A202-3BD1E8833F51}"/>
              </a:ext>
            </a:extLst>
          </p:cNvPr>
          <p:cNvSpPr txBox="1"/>
          <p:nvPr/>
        </p:nvSpPr>
        <p:spPr>
          <a:xfrm>
            <a:off x="0" y="196126"/>
            <a:ext cx="11567160"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EB701FA7-6F0F-A9E2-BE22-AD819A7F7E04}"/>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A722EB1C-4766-286F-573A-A1BABFAF2F5E}"/>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75BFBF17-AB5E-7DFF-4B8D-A4DF4FA23BC0}"/>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2F742743-C3BF-CEB7-93AE-2E32B428B733}"/>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BC565AD3-58FE-3609-18CA-250A1B501CD6}"/>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8DBDA449-948F-8693-354D-86E50259039D}"/>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8B29BE4D-0E71-2C88-25BD-B052CFBAA22B}"/>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17DDA0A7-2A54-2D4C-A3EE-D05D6A08FF55}"/>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7094C5FB-0D22-E2B0-A06A-D2692F8AAFA0}"/>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C440F6F5-4374-DF04-2B73-F2C623B8CBFB}"/>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52CCE0F9-CA83-224C-FB36-87F7EAC96081}"/>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E3B26677-06AD-0648-8E1F-AB697A499514}"/>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026E82E5-2012-98C6-FC61-22FE1E0BB49A}"/>
              </a:ext>
            </a:extLst>
          </p:cNvPr>
          <p:cNvSpPr txBox="1"/>
          <p:nvPr/>
        </p:nvSpPr>
        <p:spPr>
          <a:xfrm>
            <a:off x="20556" y="2554177"/>
            <a:ext cx="5161044"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a:t>Mạch điều khiển động cơ (L298N): Đóng/ngắt dòng điện cho bơm và điều chỉnh công suất dựa theo tín hiệu điều khiển từ </a:t>
            </a:r>
            <a:r>
              <a:rPr lang="vi-VN" sz="2400" b="1" dirty="0" err="1"/>
              <a:t>Arduino</a:t>
            </a:r>
            <a:endParaRPr lang="vi-VN" sz="2400"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F0F24168-4A6E-2685-8AA3-0FC2F08A7CC8}"/>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49953B62-CE88-1577-290A-869AD7F1A271}"/>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B293C4A5-7528-B2D7-1CA7-D0856E88F26C}"/>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4" name="Hộp Văn bản 23">
            <a:extLst>
              <a:ext uri="{FF2B5EF4-FFF2-40B4-BE49-F238E27FC236}">
                <a16:creationId xmlns:a16="http://schemas.microsoft.com/office/drawing/2014/main" id="{425B2F12-A32B-F858-AB2F-BCC91AD2B219}"/>
              </a:ext>
            </a:extLst>
          </p:cNvPr>
          <p:cNvSpPr txBox="1"/>
          <p:nvPr/>
        </p:nvSpPr>
        <p:spPr>
          <a:xfrm>
            <a:off x="-7527943" y="4525746"/>
            <a:ext cx="5227226"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2.2 Xây dựng </a:t>
            </a:r>
            <a:r>
              <a:rPr lang="vi-VN" sz="2800" dirty="0" err="1">
                <a:solidFill>
                  <a:schemeClr val="bg1"/>
                </a:solidFill>
                <a:latin typeface="Arial Bold" panose="020B0704020202020204" pitchFamily="34" charset="0"/>
                <a:cs typeface="Arial Bold" panose="020B0704020202020204" pitchFamily="34" charset="0"/>
              </a:rPr>
              <a:t>System</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Module</a:t>
            </a:r>
            <a:r>
              <a:rPr lang="vi-VN" sz="2800" dirty="0">
                <a:solidFill>
                  <a:schemeClr val="bg1"/>
                </a:solidFill>
                <a:latin typeface="Arial Bold" panose="020B0704020202020204" pitchFamily="34" charset="0"/>
                <a:cs typeface="Arial Bold" panose="020B0704020202020204" pitchFamily="34" charset="0"/>
              </a:rPr>
              <a:t> </a:t>
            </a:r>
          </a:p>
        </p:txBody>
      </p:sp>
      <p:sp>
        <p:nvSpPr>
          <p:cNvPr id="25" name="Hộp Văn bản 24">
            <a:extLst>
              <a:ext uri="{FF2B5EF4-FFF2-40B4-BE49-F238E27FC236}">
                <a16:creationId xmlns:a16="http://schemas.microsoft.com/office/drawing/2014/main" id="{3575726A-3829-428A-F171-BD21D1A205CA}"/>
              </a:ext>
            </a:extLst>
          </p:cNvPr>
          <p:cNvSpPr txBox="1"/>
          <p:nvPr/>
        </p:nvSpPr>
        <p:spPr>
          <a:xfrm>
            <a:off x="-426719" y="1318732"/>
            <a:ext cx="9307843" cy="523220"/>
          </a:xfrm>
          <a:prstGeom prst="rect">
            <a:avLst/>
          </a:prstGeom>
          <a:noFill/>
        </p:spPr>
        <p:txBody>
          <a:bodyPr wrap="square" rtlCol="0">
            <a:spAutoFit/>
          </a:bodyPr>
          <a:lstStyle/>
          <a:p>
            <a:pPr algn="ctr"/>
            <a:r>
              <a:rPr lang="vi-VN" sz="2800" dirty="0">
                <a:solidFill>
                  <a:schemeClr val="bg1"/>
                </a:solidFill>
                <a:latin typeface="Arial Bold" panose="020B0704020202020204" pitchFamily="34" charset="0"/>
                <a:cs typeface="Arial Bold" panose="020B0704020202020204" pitchFamily="34" charset="0"/>
              </a:rPr>
              <a:t>2.1 Giới thiệu các thiết bị sử dụng cho hệ thống</a:t>
            </a:r>
          </a:p>
        </p:txBody>
      </p:sp>
      <p:sp>
        <p:nvSpPr>
          <p:cNvPr id="26" name="Hộp Văn bản 25">
            <a:extLst>
              <a:ext uri="{FF2B5EF4-FFF2-40B4-BE49-F238E27FC236}">
                <a16:creationId xmlns:a16="http://schemas.microsoft.com/office/drawing/2014/main" id="{67B1AFAB-0D4E-97C8-CA71-0FE2748BD20E}"/>
              </a:ext>
            </a:extLst>
          </p:cNvPr>
          <p:cNvSpPr txBox="1"/>
          <p:nvPr/>
        </p:nvSpPr>
        <p:spPr>
          <a:xfrm>
            <a:off x="-7590538" y="5567678"/>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3" name="Hộp Văn bản 22">
            <a:extLst>
              <a:ext uri="{FF2B5EF4-FFF2-40B4-BE49-F238E27FC236}">
                <a16:creationId xmlns:a16="http://schemas.microsoft.com/office/drawing/2014/main" id="{2C3CCB17-86E6-15DB-E305-79F46C1F1614}"/>
              </a:ext>
            </a:extLst>
          </p:cNvPr>
          <p:cNvSpPr txBox="1"/>
          <p:nvPr/>
        </p:nvSpPr>
        <p:spPr>
          <a:xfrm>
            <a:off x="0" y="5141208"/>
            <a:ext cx="5161044"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Nguồn: Cung cấp năng lượng cho toàn hệ thống</a:t>
            </a:r>
            <a:endParaRPr lang="vi-VN" sz="2400" dirty="0">
              <a:solidFill>
                <a:schemeClr val="tx1"/>
              </a:solidFill>
              <a:latin typeface="Arial Bold" panose="020B0704020202020204" pitchFamily="34" charset="0"/>
              <a:cs typeface="Arial Bold" panose="020B0704020202020204" pitchFamily="34" charset="0"/>
            </a:endParaRPr>
          </a:p>
        </p:txBody>
      </p:sp>
      <p:pic>
        <p:nvPicPr>
          <p:cNvPr id="28" name="Hình ảnh 27" descr="Arduino Uno - R3 Australia - Little Bird">
            <a:extLst>
              <a:ext uri="{FF2B5EF4-FFF2-40B4-BE49-F238E27FC236}">
                <a16:creationId xmlns:a16="http://schemas.microsoft.com/office/drawing/2014/main" id="{764D94CA-D92C-8631-9379-5826D16C65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697" y="-5281389"/>
            <a:ext cx="3604019" cy="181359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2050" name="Picture 2" descr="Espressif ESP32-DevKitC-S1">
            <a:extLst>
              <a:ext uri="{FF2B5EF4-FFF2-40B4-BE49-F238E27FC236}">
                <a16:creationId xmlns:a16="http://schemas.microsoft.com/office/drawing/2014/main" id="{3761C160-CF00-D952-B861-84683BB765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5709" y="-3467791"/>
            <a:ext cx="2212975" cy="2212975"/>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7412" name="Picture 4" descr="Soil Humidity Sensor FC-28">
            <a:extLst>
              <a:ext uri="{FF2B5EF4-FFF2-40B4-BE49-F238E27FC236}">
                <a16:creationId xmlns:a16="http://schemas.microsoft.com/office/drawing/2014/main" id="{E81886A7-C17B-1EAF-7751-4D6B88D630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9056" y="-5517106"/>
            <a:ext cx="2572549" cy="239218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17414" name="Picture 6" descr="Mô-đun cảm biến nhiệt độ và độ ẩm DHT11 với các nhà sản xuất LED và nhà  cung cấp Trung Quốc - Bảng giá - Kuongshun điện tử">
            <a:extLst>
              <a:ext uri="{FF2B5EF4-FFF2-40B4-BE49-F238E27FC236}">
                <a16:creationId xmlns:a16="http://schemas.microsoft.com/office/drawing/2014/main" id="{DFE3634A-6AC3-1FE8-FF98-94A31EAA06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2155" y="-3721669"/>
            <a:ext cx="2567768" cy="256776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pic>
        <p:nvPicPr>
          <p:cNvPr id="18436" name="Picture 4" descr="Động cơ F130 DC motor mini DIY">
            <a:extLst>
              <a:ext uri="{FF2B5EF4-FFF2-40B4-BE49-F238E27FC236}">
                <a16:creationId xmlns:a16="http://schemas.microsoft.com/office/drawing/2014/main" id="{66F568E3-C239-E469-C648-14970B2F03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5400" y="-1709560"/>
            <a:ext cx="2618778" cy="21817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9458" name="Picture 2" descr="How to use the L298N motor driver module | Arduino Project Hub">
            <a:extLst>
              <a:ext uri="{FF2B5EF4-FFF2-40B4-BE49-F238E27FC236}">
                <a16:creationId xmlns:a16="http://schemas.microsoft.com/office/drawing/2014/main" id="{571B6F34-278A-B6BA-1747-6CC29F8F56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57850" y="2219516"/>
            <a:ext cx="2504934" cy="250493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9464" name="Picture 8" descr="Adapter Chuyển Đổi Nguồn 12V/1A ADT12V">
            <a:extLst>
              <a:ext uri="{FF2B5EF4-FFF2-40B4-BE49-F238E27FC236}">
                <a16:creationId xmlns:a16="http://schemas.microsoft.com/office/drawing/2014/main" id="{5195BD67-79BC-ED56-9B1D-2709C92F64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30312" y="3898437"/>
            <a:ext cx="2711751" cy="230105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119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a:extLst>
            <a:ext uri="{FF2B5EF4-FFF2-40B4-BE49-F238E27FC236}">
              <a16:creationId xmlns:a16="http://schemas.microsoft.com/office/drawing/2014/main" id="{F541EEE4-C348-D364-754F-A39285B93FA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F0924B4-9EC7-2914-08D9-04332BA257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B075C93E-8DA5-71C8-E72A-4A0FF0F65D40}"/>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CCFDE015-D68E-3460-BC5F-356D1837EE07}"/>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91FA6F07-2BF4-FFE2-2D88-6F2093F29ECD}"/>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529E2C1A-AA77-05BE-28C3-76932B205A87}"/>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A684C0AE-C697-E40F-1CDF-DE2D72E5B4D8}"/>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681EDB76-EFC7-0699-4BBB-31012225BE5F}"/>
              </a:ext>
            </a:extLst>
          </p:cNvPr>
          <p:cNvSpPr txBox="1"/>
          <p:nvPr/>
        </p:nvSpPr>
        <p:spPr>
          <a:xfrm>
            <a:off x="-9595367" y="593403"/>
            <a:ext cx="7982882" cy="1569660"/>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D2C8EFA1-7F0B-7587-BFE3-EBB9EA7D08C6}"/>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31BFF8D9-B6CD-C735-AB54-94A1711924F1}"/>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793DF506-78A2-72CC-92CF-B35E634C0943}"/>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5FC5E9A6-CCCB-14B7-A6B0-5AAEF8A2420C}"/>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B8D7D7DC-CAD9-BDA2-F001-0BC0B6FF757E}"/>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C63C6BFC-58E8-7C84-D9BE-7FBA257A4C1C}"/>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7348C262-4A58-DF2F-9F1D-62BBB5778A48}"/>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F3F7205D-3F1B-5694-91BE-AF7C28620497}"/>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B7DF7DD5-61BA-FBCA-90C7-14236DF1B772}"/>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0" name="Hộp Văn bản 19">
            <a:extLst>
              <a:ext uri="{FF2B5EF4-FFF2-40B4-BE49-F238E27FC236}">
                <a16:creationId xmlns:a16="http://schemas.microsoft.com/office/drawing/2014/main" id="{69D1E127-A067-17DB-FEA7-AF143953446E}"/>
              </a:ext>
            </a:extLst>
          </p:cNvPr>
          <p:cNvSpPr txBox="1"/>
          <p:nvPr/>
        </p:nvSpPr>
        <p:spPr>
          <a:xfrm>
            <a:off x="-5180992" y="-2525042"/>
            <a:ext cx="6320821" cy="95410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800" dirty="0">
                <a:solidFill>
                  <a:schemeClr val="tx1"/>
                </a:solidFill>
                <a:latin typeface="Arial Bold" panose="020B0704020202020204" pitchFamily="34" charset="0"/>
                <a:cs typeface="Arial Bold" panose="020B0704020202020204" pitchFamily="34" charset="0"/>
              </a:rPr>
              <a:t>Giao diện hiển thị và điều khiển hệ thống trên </a:t>
            </a:r>
            <a:r>
              <a:rPr lang="vi-VN" sz="2800" dirty="0" err="1">
                <a:solidFill>
                  <a:schemeClr val="tx1"/>
                </a:solidFill>
                <a:latin typeface="Arial Bold" panose="020B0704020202020204" pitchFamily="34" charset="0"/>
                <a:cs typeface="Arial Bold" panose="020B0704020202020204" pitchFamily="34" charset="0"/>
              </a:rPr>
              <a:t>Internet</a:t>
            </a:r>
            <a:endParaRPr lang="vi-VN" sz="2800" dirty="0">
              <a:solidFill>
                <a:schemeClr val="tx1"/>
              </a:solidFill>
              <a:latin typeface="Arial Bold" panose="020B0704020202020204" pitchFamily="34" charset="0"/>
              <a:cs typeface="Arial Bold" panose="020B0704020202020204" pitchFamily="34" charset="0"/>
            </a:endParaRPr>
          </a:p>
        </p:txBody>
      </p:sp>
      <p:sp>
        <p:nvSpPr>
          <p:cNvPr id="22" name="Hộp Văn bản 21">
            <a:extLst>
              <a:ext uri="{FF2B5EF4-FFF2-40B4-BE49-F238E27FC236}">
                <a16:creationId xmlns:a16="http://schemas.microsoft.com/office/drawing/2014/main" id="{36FE1A77-BF06-54F6-C976-32DC903472A3}"/>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73BF28F4-F6CF-B723-F155-B59E6819BB56}"/>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38F49D6B-553E-D2EE-3D00-DB60D6D0D6D0}"/>
              </a:ext>
            </a:extLst>
          </p:cNvPr>
          <p:cNvSpPr txBox="1"/>
          <p:nvPr/>
        </p:nvSpPr>
        <p:spPr>
          <a:xfrm>
            <a:off x="2947313" y="-1810940"/>
            <a:ext cx="522654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5" name="Hộp Văn bản 14">
            <a:extLst>
              <a:ext uri="{FF2B5EF4-FFF2-40B4-BE49-F238E27FC236}">
                <a16:creationId xmlns:a16="http://schemas.microsoft.com/office/drawing/2014/main" id="{35BC94DF-4EF8-35A4-B2B0-B88B208E53AF}"/>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a:solidFill>
                  <a:schemeClr val="tx1"/>
                </a:solidFill>
                <a:latin typeface="Arial Bold" panose="020B0704020202020204" pitchFamily="34" charset="0"/>
                <a:cs typeface="Arial Bold" panose="020B0704020202020204" pitchFamily="34" charset="0"/>
              </a:rPr>
              <a:t>Giao diện người dùng để hiển thị và điều khiển</a:t>
            </a:r>
            <a:endParaRPr lang="vi-VN" sz="2400" dirty="0">
              <a:solidFill>
                <a:schemeClr val="tx1"/>
              </a:solidFill>
              <a:latin typeface="Arial Bold" panose="020B0704020202020204" pitchFamily="34" charset="0"/>
              <a:cs typeface="Arial Bold" panose="020B0704020202020204" pitchFamily="34" charset="0"/>
            </a:endParaRPr>
          </a:p>
        </p:txBody>
      </p:sp>
      <p:sp>
        <p:nvSpPr>
          <p:cNvPr id="17" name="Hộp Văn bản 16">
            <a:extLst>
              <a:ext uri="{FF2B5EF4-FFF2-40B4-BE49-F238E27FC236}">
                <a16:creationId xmlns:a16="http://schemas.microsoft.com/office/drawing/2014/main" id="{7FB30FA2-13A9-D210-11DC-3E0197B6F419}"/>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84E9C715-F819-5035-BA20-23440E4BA997}"/>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Tree>
    <p:extLst>
      <p:ext uri="{BB962C8B-B14F-4D97-AF65-F5344CB8AC3E}">
        <p14:creationId xmlns:p14="http://schemas.microsoft.com/office/powerpoint/2010/main" val="3863031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9A7A2-5D95-9400-9A6F-D0BD735761A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3F62619-6B0E-DA36-C51A-C2A907357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B0A9D7FB-34AE-8CF9-E42C-3CA6AF3B9539}"/>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923284E4-02A5-732B-7179-E2A9DCAAAE28}"/>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46F1C3B7-C505-BDDB-101E-E90D98165008}"/>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0FA52D5D-AA60-147C-694F-1865987DCEB2}"/>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29B7F9E5-6C06-0EC5-8B22-84CBE602C7AF}"/>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B56C0E6-C509-F764-21DC-B5C597D3E267}"/>
              </a:ext>
            </a:extLst>
          </p:cNvPr>
          <p:cNvSpPr txBox="1"/>
          <p:nvPr/>
        </p:nvSpPr>
        <p:spPr>
          <a:xfrm>
            <a:off x="-123868" y="15261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52A24791-93D4-5326-11BD-0A15673FE37C}"/>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D54BCECE-F58E-FF8F-DB89-CD559D6EA638}"/>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766B617E-488D-8935-1252-60160FCFF984}"/>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E83D1A4F-483A-BAB2-29C3-BEF5A035AE2E}"/>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5CC88CE6-95A7-D0AF-776E-0B84351C73CF}"/>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1E596E11-4576-40AF-6CD7-7AE7225CBBCE}"/>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5EF1E890-5477-61AD-946A-38A7EE7C0201}"/>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63BCB4E3-1C68-D72E-999C-6829DE352CEB}"/>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34D99F8A-BDB6-3118-09EF-CFFE8CBE1F75}"/>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DF05F29C-00E6-D7D4-97A9-1149EDEEF4DE}"/>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347AC14D-992B-C507-E470-60BCF713767D}"/>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9E059613-3C76-124A-66A4-1BCCDF6059EA}"/>
              </a:ext>
            </a:extLst>
          </p:cNvPr>
          <p:cNvSpPr txBox="1"/>
          <p:nvPr/>
        </p:nvSpPr>
        <p:spPr>
          <a:xfrm>
            <a:off x="2947313" y="-1810940"/>
            <a:ext cx="5226548"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5" name="Hộp Văn bản 14">
            <a:extLst>
              <a:ext uri="{FF2B5EF4-FFF2-40B4-BE49-F238E27FC236}">
                <a16:creationId xmlns:a16="http://schemas.microsoft.com/office/drawing/2014/main" id="{2F58D60C-E417-3DC1-F00E-E2391C035A46}"/>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5335CD66-6754-53F6-E0FF-C0BF0F0E97B5}"/>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83638AB2-C7E8-3DD8-94D5-BBDB9A93F048}"/>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D2C2B969-5F56-F73B-7976-B41D800F80FC}"/>
              </a:ext>
            </a:extLst>
          </p:cNvPr>
          <p:cNvSpPr txBox="1"/>
          <p:nvPr/>
        </p:nvSpPr>
        <p:spPr>
          <a:xfrm>
            <a:off x="91145" y="1197934"/>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3E2601B9-C08B-003C-2FCB-D6399DFA77DC}"/>
              </a:ext>
            </a:extLst>
          </p:cNvPr>
          <p:cNvSpPr/>
          <p:nvPr/>
        </p:nvSpPr>
        <p:spPr>
          <a:xfrm>
            <a:off x="0" y="2312756"/>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48395F1C-C762-3ED1-1195-D0F6333A5FAE}"/>
              </a:ext>
            </a:extLst>
          </p:cNvPr>
          <p:cNvSpPr/>
          <p:nvPr/>
        </p:nvSpPr>
        <p:spPr>
          <a:xfrm>
            <a:off x="0" y="4845426"/>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0678603D-0B9B-F58D-0208-3A2741E91FDC}"/>
              </a:ext>
            </a:extLst>
          </p:cNvPr>
          <p:cNvSpPr/>
          <p:nvPr/>
        </p:nvSpPr>
        <p:spPr>
          <a:xfrm>
            <a:off x="4198718" y="4845426"/>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50D92AA0-0453-943B-AA2D-0AB3AF85CD98}"/>
              </a:ext>
            </a:extLst>
          </p:cNvPr>
          <p:cNvSpPr/>
          <p:nvPr/>
        </p:nvSpPr>
        <p:spPr>
          <a:xfrm>
            <a:off x="8411775" y="2312756"/>
            <a:ext cx="2951720"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F660001A-D46F-8C48-CAAB-3AC9149AFCE5}"/>
              </a:ext>
            </a:extLst>
          </p:cNvPr>
          <p:cNvSpPr/>
          <p:nvPr/>
        </p:nvSpPr>
        <p:spPr>
          <a:xfrm>
            <a:off x="4198718" y="2312756"/>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sp>
        <p:nvSpPr>
          <p:cNvPr id="32" name="Hình Bầu dục 31">
            <a:extLst>
              <a:ext uri="{FF2B5EF4-FFF2-40B4-BE49-F238E27FC236}">
                <a16:creationId xmlns:a16="http://schemas.microsoft.com/office/drawing/2014/main" id="{2BB979E9-CE01-9656-E1F9-515257C834EE}"/>
              </a:ext>
            </a:extLst>
          </p:cNvPr>
          <p:cNvSpPr/>
          <p:nvPr/>
        </p:nvSpPr>
        <p:spPr>
          <a:xfrm>
            <a:off x="8411775" y="4845425"/>
            <a:ext cx="2951720" cy="1432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vi-VN" sz="2400" b="1" dirty="0" err="1"/>
              <a:t>DATABASE</a:t>
            </a:r>
            <a:endParaRPr lang="vi-VN" sz="2400" b="1" dirty="0"/>
          </a:p>
        </p:txBody>
      </p:sp>
      <p:cxnSp>
        <p:nvCxnSpPr>
          <p:cNvPr id="34" name="Đường kết nối Mũi tên Thẳng 33">
            <a:extLst>
              <a:ext uri="{FF2B5EF4-FFF2-40B4-BE49-F238E27FC236}">
                <a16:creationId xmlns:a16="http://schemas.microsoft.com/office/drawing/2014/main" id="{B461C05D-C37A-BACA-7511-C8EBC12A718B}"/>
              </a:ext>
            </a:extLst>
          </p:cNvPr>
          <p:cNvCxnSpPr>
            <a:cxnSpLocks/>
            <a:endCxn id="28" idx="0"/>
          </p:cNvCxnSpPr>
          <p:nvPr/>
        </p:nvCxnSpPr>
        <p:spPr>
          <a:xfrm>
            <a:off x="1475860" y="3780603"/>
            <a:ext cx="0" cy="106482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F4EE1487-7EAB-7068-0F44-67577716979B}"/>
              </a:ext>
            </a:extLst>
          </p:cNvPr>
          <p:cNvCxnSpPr>
            <a:cxnSpLocks/>
            <a:stCxn id="29" idx="2"/>
            <a:endCxn id="28" idx="6"/>
          </p:cNvCxnSpPr>
          <p:nvPr/>
        </p:nvCxnSpPr>
        <p:spPr>
          <a:xfrm flipH="1">
            <a:off x="2951720" y="5561459"/>
            <a:ext cx="1246998"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DE3BDD10-7E64-CE20-8961-FD38AED76C7E}"/>
              </a:ext>
            </a:extLst>
          </p:cNvPr>
          <p:cNvCxnSpPr>
            <a:cxnSpLocks/>
            <a:stCxn id="30" idx="3"/>
            <a:endCxn id="29" idx="7"/>
          </p:cNvCxnSpPr>
          <p:nvPr/>
        </p:nvCxnSpPr>
        <p:spPr>
          <a:xfrm flipH="1">
            <a:off x="6718169" y="3535101"/>
            <a:ext cx="2125875" cy="1520046"/>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463963A3-038F-1C85-91E8-236CFAFBA9B8}"/>
              </a:ext>
            </a:extLst>
          </p:cNvPr>
          <p:cNvCxnSpPr>
            <a:cxnSpLocks/>
            <a:stCxn id="30" idx="2"/>
            <a:endCxn id="31" idx="6"/>
          </p:cNvCxnSpPr>
          <p:nvPr/>
        </p:nvCxnSpPr>
        <p:spPr>
          <a:xfrm flipH="1">
            <a:off x="7150438" y="3028789"/>
            <a:ext cx="1261337"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6" name="Đường kết nối Mũi tên Thẳng 45">
            <a:extLst>
              <a:ext uri="{FF2B5EF4-FFF2-40B4-BE49-F238E27FC236}">
                <a16:creationId xmlns:a16="http://schemas.microsoft.com/office/drawing/2014/main" id="{0B84780A-8478-4460-208E-73C93DDB6863}"/>
              </a:ext>
            </a:extLst>
          </p:cNvPr>
          <p:cNvCxnSpPr>
            <a:cxnSpLocks/>
            <a:stCxn id="30" idx="4"/>
            <a:endCxn id="32" idx="0"/>
          </p:cNvCxnSpPr>
          <p:nvPr/>
        </p:nvCxnSpPr>
        <p:spPr>
          <a:xfrm>
            <a:off x="9887635" y="3744822"/>
            <a:ext cx="0" cy="110060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6261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1589D-5502-4B5B-B643-7B01F7636DA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BBFA265-CEB8-502D-2C52-CB539FE3C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E6F542BD-BB31-CE45-9080-73E40F1ACA89}"/>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7488FE0F-795F-F902-7E67-AF620C18A2E1}"/>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1A27BFCD-3940-3127-3544-305CD7203EDC}"/>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FA78B68D-5BA2-3871-F590-DC654E0913A9}"/>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7BBB7E56-002B-96AF-2386-2052A288759C}"/>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E72827B5-A18E-F746-933C-5AE3F57C8945}"/>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7BBD2097-F169-35ED-E8F1-5317813F6426}"/>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0637A6C6-A6C4-F901-856B-1E882B915CA0}"/>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EC7DE503-29B4-D195-BC1F-FA1A39998C63}"/>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2D2D3692-16E1-927B-E43F-629A158CDAC8}"/>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BD41876A-35D7-5C6A-C042-7EBCABE52050}"/>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CDE590F5-5031-1116-FD1F-48C514613F16}"/>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684D4F45-45D4-C298-C457-DF98579CB200}"/>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A95AB0EA-79D4-471C-5C09-72EFDB16156D}"/>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60EEE6EB-A761-52A8-47D0-630ADBC445E9}"/>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77EB36AB-C247-AFFB-D7D7-9DB29A8814C5}"/>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E521C38F-1D69-1EB3-85DF-D1557DD1C560}"/>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59B32E4D-4349-3969-10FF-0350021C026C}"/>
              </a:ext>
            </a:extLst>
          </p:cNvPr>
          <p:cNvSpPr txBox="1"/>
          <p:nvPr/>
        </p:nvSpPr>
        <p:spPr>
          <a:xfrm>
            <a:off x="3541214" y="2329195"/>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bấm, </a:t>
            </a:r>
            <a:r>
              <a:rPr lang="vi-VN" sz="2400" b="1" dirty="0" err="1">
                <a:solidFill>
                  <a:schemeClr val="tx1"/>
                </a:solidFill>
                <a:latin typeface="Arial Bold" panose="020B0704020202020204" pitchFamily="34" charset="0"/>
                <a:cs typeface="Arial Bold" panose="020B0704020202020204" pitchFamily="34" charset="0"/>
              </a:rPr>
              <a:t>module</a:t>
            </a:r>
            <a:r>
              <a:rPr lang="vi-VN" sz="2400" b="1" dirty="0">
                <a:solidFill>
                  <a:schemeClr val="tx1"/>
                </a:solidFill>
                <a:latin typeface="Arial Bold" panose="020B0704020202020204" pitchFamily="34" charset="0"/>
                <a:cs typeface="Arial Bold" panose="020B0704020202020204" pitchFamily="34" charset="0"/>
              </a:rPr>
              <a:t> thời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EAFBCE1A-1615-343A-795D-7B8E17BA03B1}"/>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A798E8C9-CF14-8E88-3A85-6CFF2ED52315}"/>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035FD0B0-D86E-37FB-FF0D-E9FBFA9136B3}"/>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E19F3DAE-CDA4-6FE3-BB0E-549C7323886A}"/>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C32BA627-9CC9-8CED-734D-25C096C2CF4B}"/>
              </a:ext>
            </a:extLst>
          </p:cNvPr>
          <p:cNvSpPr/>
          <p:nvPr/>
        </p:nvSpPr>
        <p:spPr>
          <a:xfrm>
            <a:off x="0" y="1645331"/>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6F0BCF4B-300B-3697-00AC-3C5DF51FE2C1}"/>
              </a:ext>
            </a:extLst>
          </p:cNvPr>
          <p:cNvSpPr/>
          <p:nvPr/>
        </p:nvSpPr>
        <p:spPr>
          <a:xfrm>
            <a:off x="0" y="5228219"/>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CF680C82-7D83-1955-3D1F-05AD984AEA5B}"/>
              </a:ext>
            </a:extLst>
          </p:cNvPr>
          <p:cNvSpPr/>
          <p:nvPr/>
        </p:nvSpPr>
        <p:spPr>
          <a:xfrm>
            <a:off x="-2716055" y="-2664719"/>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8B82DE18-F2FF-2093-675F-983C9454235B}"/>
              </a:ext>
            </a:extLst>
          </p:cNvPr>
          <p:cNvSpPr/>
          <p:nvPr/>
        </p:nvSpPr>
        <p:spPr>
          <a:xfrm>
            <a:off x="9121960" y="-4080886"/>
            <a:ext cx="2951720"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31C2FCE8-CA04-90E1-BC62-7DE9EA8E3E81}"/>
              </a:ext>
            </a:extLst>
          </p:cNvPr>
          <p:cNvSpPr/>
          <p:nvPr/>
        </p:nvSpPr>
        <p:spPr>
          <a:xfrm>
            <a:off x="4908903" y="-4080886"/>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sp>
        <p:nvSpPr>
          <p:cNvPr id="32" name="Hình Bầu dục 31">
            <a:extLst>
              <a:ext uri="{FF2B5EF4-FFF2-40B4-BE49-F238E27FC236}">
                <a16:creationId xmlns:a16="http://schemas.microsoft.com/office/drawing/2014/main" id="{2E11B827-91CB-3A88-022E-DD6EE0563B02}"/>
              </a:ext>
            </a:extLst>
          </p:cNvPr>
          <p:cNvSpPr/>
          <p:nvPr/>
        </p:nvSpPr>
        <p:spPr>
          <a:xfrm>
            <a:off x="9121960" y="-1548217"/>
            <a:ext cx="2951720" cy="1432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vi-VN" sz="2400" b="1" dirty="0" err="1"/>
              <a:t>DATABASE</a:t>
            </a:r>
            <a:endParaRPr lang="vi-VN" sz="2400" b="1" dirty="0"/>
          </a:p>
        </p:txBody>
      </p:sp>
      <p:cxnSp>
        <p:nvCxnSpPr>
          <p:cNvPr id="34" name="Đường kết nối Mũi tên Thẳng 33">
            <a:extLst>
              <a:ext uri="{FF2B5EF4-FFF2-40B4-BE49-F238E27FC236}">
                <a16:creationId xmlns:a16="http://schemas.microsoft.com/office/drawing/2014/main" id="{5156779A-6487-9B18-A464-FA08C9B9BBDC}"/>
              </a:ext>
            </a:extLst>
          </p:cNvPr>
          <p:cNvCxnSpPr>
            <a:cxnSpLocks/>
            <a:stCxn id="26" idx="4"/>
            <a:endCxn id="28" idx="0"/>
          </p:cNvCxnSpPr>
          <p:nvPr/>
        </p:nvCxnSpPr>
        <p:spPr>
          <a:xfrm>
            <a:off x="1475860" y="3077397"/>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A54D1F96-F3C2-ED89-5BDD-8278E9A599BD}"/>
              </a:ext>
            </a:extLst>
          </p:cNvPr>
          <p:cNvCxnSpPr>
            <a:cxnSpLocks/>
            <a:stCxn id="29" idx="2"/>
          </p:cNvCxnSpPr>
          <p:nvPr/>
        </p:nvCxnSpPr>
        <p:spPr>
          <a:xfrm flipH="1">
            <a:off x="-5125467" y="-1948686"/>
            <a:ext cx="240941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8A67E10A-01B4-F28E-122D-97A3AE15BAC6}"/>
              </a:ext>
            </a:extLst>
          </p:cNvPr>
          <p:cNvCxnSpPr>
            <a:cxnSpLocks/>
            <a:stCxn id="30" idx="3"/>
          </p:cNvCxnSpPr>
          <p:nvPr/>
        </p:nvCxnSpPr>
        <p:spPr>
          <a:xfrm flipH="1">
            <a:off x="7428354" y="-2858541"/>
            <a:ext cx="2125875" cy="1520046"/>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3A52C271-EB95-2240-BA06-0E69D745DF89}"/>
              </a:ext>
            </a:extLst>
          </p:cNvPr>
          <p:cNvCxnSpPr>
            <a:cxnSpLocks/>
            <a:stCxn id="30" idx="2"/>
            <a:endCxn id="31" idx="6"/>
          </p:cNvCxnSpPr>
          <p:nvPr/>
        </p:nvCxnSpPr>
        <p:spPr>
          <a:xfrm flipH="1">
            <a:off x="7860623" y="-3364853"/>
            <a:ext cx="1261337"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6" name="Đường kết nối Mũi tên Thẳng 45">
            <a:extLst>
              <a:ext uri="{FF2B5EF4-FFF2-40B4-BE49-F238E27FC236}">
                <a16:creationId xmlns:a16="http://schemas.microsoft.com/office/drawing/2014/main" id="{929F4EE5-0EBE-59F8-BD4A-25A264719F48}"/>
              </a:ext>
            </a:extLst>
          </p:cNvPr>
          <p:cNvCxnSpPr>
            <a:cxnSpLocks/>
            <a:stCxn id="30" idx="4"/>
            <a:endCxn id="32" idx="0"/>
          </p:cNvCxnSpPr>
          <p:nvPr/>
        </p:nvCxnSpPr>
        <p:spPr>
          <a:xfrm>
            <a:off x="10597820" y="-2648820"/>
            <a:ext cx="0" cy="110060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F88C7F5A-2FEB-2F77-23D0-5B6342F419C9}"/>
              </a:ext>
            </a:extLst>
          </p:cNvPr>
          <p:cNvSpPr txBox="1"/>
          <p:nvPr/>
        </p:nvSpPr>
        <p:spPr>
          <a:xfrm>
            <a:off x="-6566136" y="-1477438"/>
            <a:ext cx="794785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5DE45B08-6370-D946-E637-4406568E302D}"/>
              </a:ext>
            </a:extLst>
          </p:cNvPr>
          <p:cNvSpPr txBox="1"/>
          <p:nvPr/>
        </p:nvSpPr>
        <p:spPr>
          <a:xfrm>
            <a:off x="3569768" y="4628054"/>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đọc dữ liệu từ các chân mỗi 3 giây, đồng thời gửi lệnh điều khiển tới các thiết bị cụ thể nếu có lệnh điều khiển từ ESP32</a:t>
            </a:r>
          </a:p>
        </p:txBody>
      </p:sp>
    </p:spTree>
    <p:extLst>
      <p:ext uri="{BB962C8B-B14F-4D97-AF65-F5344CB8AC3E}">
        <p14:creationId xmlns:p14="http://schemas.microsoft.com/office/powerpoint/2010/main" val="3165083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BBD16-2D56-32AB-A0E5-0A2F285E100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80B5644-4101-B9EE-529B-23CC0EA41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243427D5-FEB3-691B-CDBD-9A77B99C31B9}"/>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0E5F2EF7-1DC3-F81A-5306-34E3ECB2B94E}"/>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A075EE86-732D-0193-EE30-CBA87210C5D8}"/>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A1E2CDB0-3B1E-EF7F-04DA-A16A2ED66329}"/>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66084AC5-E6E4-75C5-F028-41A1F43640F8}"/>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72B49854-0B25-7C1A-A803-628BCBF5EBB7}"/>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6F98F842-80F8-D79F-A706-86367A0C7BFF}"/>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A3715939-ECC0-A0B0-70E4-29C2AB783785}"/>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CF265E9E-EF94-84DB-D730-21EEEDDB6CDE}"/>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C2AD82B4-34CF-0EE1-DB85-3602C9B0A4FD}"/>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85C9DC0A-F009-9CDA-D8C3-57574D3B9103}"/>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63098891-FAE7-4E2C-B387-1D67EAB22D27}"/>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074B1DC2-D277-C9AB-B9A7-185B7690FCA7}"/>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4F8510E9-F6C0-1A4A-942A-6B160E37A230}"/>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F40E93A3-3F2C-7416-8A72-01F416BB60B5}"/>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E27C1643-9FD7-BB2D-726A-F23905648D8F}"/>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7B304821-9087-AE9E-CDD6-9746E6E8315E}"/>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299C917F-7886-FA3F-7EFA-800F70C277C6}"/>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A0535FDD-B7F3-0903-1325-A52C6AF17493}"/>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7850D7D2-4199-D922-B619-77B042CBAC65}"/>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A0DBA789-30E5-E95B-6C0C-A0EF575B839E}"/>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502ACE0C-2725-C16F-0811-107BFE9E5091}"/>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FD52E6B2-F519-8B59-5385-4BC146041A78}"/>
              </a:ext>
            </a:extLst>
          </p:cNvPr>
          <p:cNvSpPr/>
          <p:nvPr/>
        </p:nvSpPr>
        <p:spPr>
          <a:xfrm>
            <a:off x="0" y="1645331"/>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50FE741E-37DF-EB01-0F52-0DCC976BCCC4}"/>
              </a:ext>
            </a:extLst>
          </p:cNvPr>
          <p:cNvSpPr/>
          <p:nvPr/>
        </p:nvSpPr>
        <p:spPr>
          <a:xfrm>
            <a:off x="0" y="5228219"/>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FC23CEA1-020C-1DD4-B383-1E28AEDE91CF}"/>
              </a:ext>
            </a:extLst>
          </p:cNvPr>
          <p:cNvSpPr/>
          <p:nvPr/>
        </p:nvSpPr>
        <p:spPr>
          <a:xfrm>
            <a:off x="6273405" y="5228219"/>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0C1FE7AF-9E73-8448-7047-76BE68A4D19C}"/>
              </a:ext>
            </a:extLst>
          </p:cNvPr>
          <p:cNvSpPr/>
          <p:nvPr/>
        </p:nvSpPr>
        <p:spPr>
          <a:xfrm>
            <a:off x="9121960" y="-4080886"/>
            <a:ext cx="2951720"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DDCA79E7-C232-CAE4-5636-9A2AA4CAF3BB}"/>
              </a:ext>
            </a:extLst>
          </p:cNvPr>
          <p:cNvSpPr/>
          <p:nvPr/>
        </p:nvSpPr>
        <p:spPr>
          <a:xfrm>
            <a:off x="4908903" y="-4080886"/>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sp>
        <p:nvSpPr>
          <p:cNvPr id="32" name="Hình Bầu dục 31">
            <a:extLst>
              <a:ext uri="{FF2B5EF4-FFF2-40B4-BE49-F238E27FC236}">
                <a16:creationId xmlns:a16="http://schemas.microsoft.com/office/drawing/2014/main" id="{1D47DFDD-FC1C-1191-3675-5A5C97C7D26C}"/>
              </a:ext>
            </a:extLst>
          </p:cNvPr>
          <p:cNvSpPr/>
          <p:nvPr/>
        </p:nvSpPr>
        <p:spPr>
          <a:xfrm>
            <a:off x="9121960" y="-1548217"/>
            <a:ext cx="2951720" cy="1432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vi-VN" sz="2400" b="1" dirty="0" err="1"/>
              <a:t>DATABASE</a:t>
            </a:r>
            <a:endParaRPr lang="vi-VN" sz="2400" b="1" dirty="0"/>
          </a:p>
        </p:txBody>
      </p:sp>
      <p:cxnSp>
        <p:nvCxnSpPr>
          <p:cNvPr id="34" name="Đường kết nối Mũi tên Thẳng 33">
            <a:extLst>
              <a:ext uri="{FF2B5EF4-FFF2-40B4-BE49-F238E27FC236}">
                <a16:creationId xmlns:a16="http://schemas.microsoft.com/office/drawing/2014/main" id="{00B8666F-36A2-8BB7-EAC1-54940ECC845B}"/>
              </a:ext>
            </a:extLst>
          </p:cNvPr>
          <p:cNvCxnSpPr>
            <a:cxnSpLocks/>
            <a:stCxn id="26" idx="4"/>
            <a:endCxn id="28" idx="0"/>
          </p:cNvCxnSpPr>
          <p:nvPr/>
        </p:nvCxnSpPr>
        <p:spPr>
          <a:xfrm>
            <a:off x="1475860" y="3077397"/>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D16A961E-BE0F-0B2A-5A54-DCDBB7436CC7}"/>
              </a:ext>
            </a:extLst>
          </p:cNvPr>
          <p:cNvCxnSpPr>
            <a:cxnSpLocks/>
            <a:stCxn id="29" idx="2"/>
            <a:endCxn id="28" idx="6"/>
          </p:cNvCxnSpPr>
          <p:nvPr/>
        </p:nvCxnSpPr>
        <p:spPr>
          <a:xfrm flipH="1">
            <a:off x="2951720" y="5944252"/>
            <a:ext cx="3321685"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0B501448-B748-E2B9-F50B-53EC0CA137B6}"/>
              </a:ext>
            </a:extLst>
          </p:cNvPr>
          <p:cNvCxnSpPr>
            <a:cxnSpLocks/>
            <a:stCxn id="30" idx="3"/>
          </p:cNvCxnSpPr>
          <p:nvPr/>
        </p:nvCxnSpPr>
        <p:spPr>
          <a:xfrm flipH="1">
            <a:off x="7428354" y="-2858541"/>
            <a:ext cx="2125875" cy="1520046"/>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AF3BA64F-C70C-87A3-F73A-EF8EC29299A5}"/>
              </a:ext>
            </a:extLst>
          </p:cNvPr>
          <p:cNvCxnSpPr>
            <a:cxnSpLocks/>
            <a:stCxn id="30" idx="2"/>
            <a:endCxn id="31" idx="6"/>
          </p:cNvCxnSpPr>
          <p:nvPr/>
        </p:nvCxnSpPr>
        <p:spPr>
          <a:xfrm flipH="1">
            <a:off x="7860623" y="-3364853"/>
            <a:ext cx="1261337"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6" name="Đường kết nối Mũi tên Thẳng 45">
            <a:extLst>
              <a:ext uri="{FF2B5EF4-FFF2-40B4-BE49-F238E27FC236}">
                <a16:creationId xmlns:a16="http://schemas.microsoft.com/office/drawing/2014/main" id="{005E58F7-D5AD-5EF1-B914-FB2A8B10CC42}"/>
              </a:ext>
            </a:extLst>
          </p:cNvPr>
          <p:cNvCxnSpPr>
            <a:cxnSpLocks/>
            <a:stCxn id="30" idx="4"/>
            <a:endCxn id="32" idx="0"/>
          </p:cNvCxnSpPr>
          <p:nvPr/>
        </p:nvCxnSpPr>
        <p:spPr>
          <a:xfrm>
            <a:off x="10597820" y="-2648820"/>
            <a:ext cx="0" cy="110060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0F829749-62A8-AAC6-5F66-4CAF14080BB7}"/>
              </a:ext>
            </a:extLst>
          </p:cNvPr>
          <p:cNvSpPr txBox="1"/>
          <p:nvPr/>
        </p:nvSpPr>
        <p:spPr>
          <a:xfrm>
            <a:off x="3484073" y="3626146"/>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C3D3815E-3B70-370C-E9FB-0E49DBBE7522}"/>
              </a:ext>
            </a:extLst>
          </p:cNvPr>
          <p:cNvSpPr txBox="1"/>
          <p:nvPr/>
        </p:nvSpPr>
        <p:spPr>
          <a:xfrm>
            <a:off x="3484074" y="1748709"/>
            <a:ext cx="809258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đọc dữ liệu từ các chân, đóng gói thành 1 </a:t>
            </a:r>
            <a:r>
              <a:rPr lang="vi-VN" sz="2400" b="1" dirty="0" err="1">
                <a:solidFill>
                  <a:schemeClr val="tx1"/>
                </a:solidFill>
                <a:latin typeface="Arial Bold" panose="020B0704020202020204" pitchFamily="34" charset="0"/>
                <a:cs typeface="Arial Bold" panose="020B0704020202020204" pitchFamily="34" charset="0"/>
              </a:rPr>
              <a:t>Packet</a:t>
            </a:r>
            <a:r>
              <a:rPr lang="vi-VN" sz="2400" b="1" dirty="0">
                <a:solidFill>
                  <a:schemeClr val="tx1"/>
                </a:solidFill>
                <a:latin typeface="Arial Bold" panose="020B0704020202020204" pitchFamily="34" charset="0"/>
                <a:cs typeface="Arial Bold" panose="020B0704020202020204" pitchFamily="34" charset="0"/>
              </a:rPr>
              <a:t> để truyền tới ESP32</a:t>
            </a:r>
          </a:p>
        </p:txBody>
      </p:sp>
    </p:spTree>
    <p:extLst>
      <p:ext uri="{BB962C8B-B14F-4D97-AF65-F5344CB8AC3E}">
        <p14:creationId xmlns:p14="http://schemas.microsoft.com/office/powerpoint/2010/main" val="4027677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723E-0EC4-22F9-F760-2F02455BC5D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2B9E307-7916-3822-A6F4-D9A6DDD3E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B14CD91A-7AFC-4DE4-9217-AA7BD5F77D4B}"/>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7DAA82B4-380D-AC71-B134-0C33740EBA9E}"/>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FECAAF63-52BF-1717-242F-3B73FF70482E}"/>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BED598BF-48F5-701D-FFB7-A2F8A3F75A55}"/>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FE59C97B-81DD-E617-5675-5BAC8BAFDFB0}"/>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B272E040-AE6A-125C-7CD8-53988C8A701D}"/>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9F10B8C5-A699-28E3-3231-8A2B841C52DF}"/>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E61D7998-46EB-068B-8764-F50B4FA18411}"/>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2701A6E9-79BC-1064-1D17-9D31B9D240CF}"/>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A56CF244-ACDA-EA3A-7B1C-C11E82749F56}"/>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6FCB584C-C51C-CBA8-B41C-0C2F10AE14D6}"/>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F89C5500-6511-2D5C-9762-E214A6690D9D}"/>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D5570710-1004-2211-769B-C5D8533EF6F7}"/>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EBAB126C-2DC0-C910-BBCE-E8194D6FF065}"/>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22F389A7-4A52-5211-ED42-7876D9ED7FAB}"/>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4556A0B7-7A20-E9A8-3FCE-CAE5720F673A}"/>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BB1152A2-C5D0-E365-578F-1AFF7ABBC791}"/>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FBADAD44-F246-0A0C-FFD5-A10104C16D87}"/>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F709C161-2622-A573-8407-F0F03CAFE363}"/>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7A2081C2-9008-5524-5999-5B7C528CE508}"/>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3429F0C6-2362-AD17-85C2-D5C9A6477B43}"/>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F4410651-1FE1-6C91-DB92-06C32B9F2F97}"/>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90E5551D-9832-549A-983B-5FF742F6772E}"/>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381643D1-46B1-4E8D-D3AF-97B6F671151A}"/>
              </a:ext>
            </a:extLst>
          </p:cNvPr>
          <p:cNvSpPr/>
          <p:nvPr/>
        </p:nvSpPr>
        <p:spPr>
          <a:xfrm>
            <a:off x="248572" y="878402"/>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5BC3A488-F103-29CC-E7F5-60F33EF60760}"/>
              </a:ext>
            </a:extLst>
          </p:cNvPr>
          <p:cNvSpPr/>
          <p:nvPr/>
        </p:nvSpPr>
        <p:spPr>
          <a:xfrm>
            <a:off x="4548164" y="878402"/>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E610A3BD-3EB7-DB09-A00B-564716CBA225}"/>
              </a:ext>
            </a:extLst>
          </p:cNvPr>
          <p:cNvSpPr/>
          <p:nvPr/>
        </p:nvSpPr>
        <p:spPr>
          <a:xfrm>
            <a:off x="9033876" y="878402"/>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ED44E0C8-416D-B5FF-647F-463A8A92244C}"/>
              </a:ext>
            </a:extLst>
          </p:cNvPr>
          <p:cNvSpPr/>
          <p:nvPr/>
        </p:nvSpPr>
        <p:spPr>
          <a:xfrm>
            <a:off x="4908903" y="-4080886"/>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sp>
        <p:nvSpPr>
          <p:cNvPr id="32" name="Hình Bầu dục 31">
            <a:extLst>
              <a:ext uri="{FF2B5EF4-FFF2-40B4-BE49-F238E27FC236}">
                <a16:creationId xmlns:a16="http://schemas.microsoft.com/office/drawing/2014/main" id="{DCC28CAE-FD59-B07A-C15E-B477C3624912}"/>
              </a:ext>
            </a:extLst>
          </p:cNvPr>
          <p:cNvSpPr/>
          <p:nvPr/>
        </p:nvSpPr>
        <p:spPr>
          <a:xfrm>
            <a:off x="9121960" y="-1548217"/>
            <a:ext cx="2951720" cy="1432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vi-VN" sz="2400" b="1" dirty="0" err="1"/>
              <a:t>DATABASE</a:t>
            </a:r>
            <a:endParaRPr lang="vi-VN" sz="2400" b="1" dirty="0"/>
          </a:p>
        </p:txBody>
      </p:sp>
      <p:cxnSp>
        <p:nvCxnSpPr>
          <p:cNvPr id="34" name="Đường kết nối Mũi tên Thẳng 33">
            <a:extLst>
              <a:ext uri="{FF2B5EF4-FFF2-40B4-BE49-F238E27FC236}">
                <a16:creationId xmlns:a16="http://schemas.microsoft.com/office/drawing/2014/main" id="{DA28FA8E-3C28-43B5-0006-987C1C7A1FA5}"/>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201ED753-54AA-C075-BF14-9DDCF792CBF5}"/>
              </a:ext>
            </a:extLst>
          </p:cNvPr>
          <p:cNvCxnSpPr>
            <a:cxnSpLocks/>
            <a:stCxn id="29" idx="2"/>
            <a:endCxn id="28" idx="6"/>
          </p:cNvCxnSpPr>
          <p:nvPr/>
        </p:nvCxnSpPr>
        <p:spPr>
          <a:xfrm flipH="1">
            <a:off x="3200292" y="1594435"/>
            <a:ext cx="134787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B985205D-7950-AA67-B4DF-04DECA50C924}"/>
              </a:ext>
            </a:extLst>
          </p:cNvPr>
          <p:cNvCxnSpPr>
            <a:cxnSpLocks/>
            <a:stCxn id="30" idx="2"/>
            <a:endCxn id="29" idx="6"/>
          </p:cNvCxnSpPr>
          <p:nvPr/>
        </p:nvCxnSpPr>
        <p:spPr>
          <a:xfrm flipH="1">
            <a:off x="7499884" y="1594435"/>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387D7E66-6D53-C579-B1AB-C52CD0F90CA3}"/>
              </a:ext>
            </a:extLst>
          </p:cNvPr>
          <p:cNvCxnSpPr>
            <a:cxnSpLocks/>
            <a:endCxn id="31" idx="6"/>
          </p:cNvCxnSpPr>
          <p:nvPr/>
        </p:nvCxnSpPr>
        <p:spPr>
          <a:xfrm flipV="1">
            <a:off x="7369326" y="-3364853"/>
            <a:ext cx="491297" cy="1403515"/>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6" name="Đường kết nối Mũi tên Thẳng 45">
            <a:extLst>
              <a:ext uri="{FF2B5EF4-FFF2-40B4-BE49-F238E27FC236}">
                <a16:creationId xmlns:a16="http://schemas.microsoft.com/office/drawing/2014/main" id="{EAD309C7-A6E0-A8F3-F3F4-5911725914FD}"/>
              </a:ext>
            </a:extLst>
          </p:cNvPr>
          <p:cNvCxnSpPr>
            <a:cxnSpLocks/>
            <a:endCxn id="32" idx="0"/>
          </p:cNvCxnSpPr>
          <p:nvPr/>
        </p:nvCxnSpPr>
        <p:spPr>
          <a:xfrm>
            <a:off x="9033876" y="-1786379"/>
            <a:ext cx="1563944" cy="23816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0734C1D2-9330-8E66-BED2-67E901C8B2C1}"/>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3CE37321-0FD8-4800-FB2A-FF64708E8A56}"/>
              </a:ext>
            </a:extLst>
          </p:cNvPr>
          <p:cNvSpPr txBox="1"/>
          <p:nvPr/>
        </p:nvSpPr>
        <p:spPr>
          <a:xfrm>
            <a:off x="750904" y="2920261"/>
            <a:ext cx="1069985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Sau khi nhận gói dữ liệu từ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ESP32 sẽ đóng gói sang chuỗi </a:t>
            </a:r>
            <a:r>
              <a:rPr lang="vi-VN" sz="2400" b="1" dirty="0" err="1">
                <a:solidFill>
                  <a:schemeClr val="tx1"/>
                </a:solidFill>
                <a:latin typeface="Arial Bold" panose="020B0704020202020204" pitchFamily="34" charset="0"/>
                <a:cs typeface="Arial Bold" panose="020B0704020202020204" pitchFamily="34" charset="0"/>
              </a:rPr>
              <a:t>JSON</a:t>
            </a:r>
            <a:r>
              <a:rPr lang="vi-VN" sz="2400" b="1" dirty="0">
                <a:solidFill>
                  <a:schemeClr val="tx1"/>
                </a:solidFill>
                <a:latin typeface="Arial Bold" panose="020B0704020202020204" pitchFamily="34" charset="0"/>
                <a:cs typeface="Arial Bold" panose="020B0704020202020204" pitchFamily="34" charset="0"/>
              </a:rPr>
              <a:t>, gửi tới Server thông qua mạng </a:t>
            </a:r>
            <a:r>
              <a:rPr lang="vi-VN" sz="2400" b="1" dirty="0" err="1">
                <a:solidFill>
                  <a:schemeClr val="tx1"/>
                </a:solidFill>
                <a:latin typeface="Arial Bold" panose="020B0704020202020204" pitchFamily="34" charset="0"/>
                <a:cs typeface="Arial Bold" panose="020B0704020202020204" pitchFamily="34" charset="0"/>
              </a:rPr>
              <a:t>WIFI</a:t>
            </a:r>
            <a:r>
              <a:rPr lang="vi-VN" sz="2400" b="1" dirty="0">
                <a:solidFill>
                  <a:schemeClr val="tx1"/>
                </a:solidFill>
                <a:latin typeface="Arial Bold" panose="020B0704020202020204" pitchFamily="34" charset="0"/>
                <a:cs typeface="Arial Bold" panose="020B0704020202020204" pitchFamily="34" charset="0"/>
              </a:rPr>
              <a:t> bằng phương thức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POST</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7" name="Hộp Văn bản 56">
            <a:extLst>
              <a:ext uri="{FF2B5EF4-FFF2-40B4-BE49-F238E27FC236}">
                <a16:creationId xmlns:a16="http://schemas.microsoft.com/office/drawing/2014/main" id="{8369FC31-DD94-DDCB-BD9B-15423BC5E8B3}"/>
              </a:ext>
            </a:extLst>
          </p:cNvPr>
          <p:cNvSpPr txBox="1"/>
          <p:nvPr/>
        </p:nvSpPr>
        <p:spPr>
          <a:xfrm>
            <a:off x="762612" y="4229458"/>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Tree>
    <p:extLst>
      <p:ext uri="{BB962C8B-B14F-4D97-AF65-F5344CB8AC3E}">
        <p14:creationId xmlns:p14="http://schemas.microsoft.com/office/powerpoint/2010/main" val="67664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6FFC9-560D-7DFD-8541-EA3B67B6871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B2BD9CC-843A-F2F4-5D89-81C81B3AE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D171E65F-514F-9CAB-118F-FC48645CA9B6}"/>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76CCF086-3F5E-296B-DD98-018749A2D1C2}"/>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B619421B-D891-A1C5-B970-77E9844237FC}"/>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B3CDEE4E-0B63-D73A-B2B9-A3F83C4ADE3B}"/>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B7E8B487-3D8C-A4D7-43A1-421BF52E95AE}"/>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9763E66C-FC7D-7913-B5C7-74D414150EA5}"/>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CE9A895B-E831-3DA8-01C9-02D322FB22A5}"/>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30D83E21-7080-2350-330D-179314BAFC5D}"/>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513C0E8B-C0C8-E546-86DE-ED8F53015C1C}"/>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5FD3B79B-7695-3D9E-A645-CD0F385A19A4}"/>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36649265-BBEB-EF7A-E91B-CBE2AF9F41ED}"/>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CE984DA7-8254-304B-8C13-14AD96C60B55}"/>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767AE4A3-2331-66B0-0F80-F2EA2EF1FC85}"/>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F05211D2-5C81-4E78-B988-F86E9033837F}"/>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E2952EFA-2953-F722-6E88-E14CB63E6C1F}"/>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34C46C59-6FC3-DA41-6B19-8B17118C5CDF}"/>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83A80113-AA82-4B9F-61D1-17F4979620C6}"/>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5701E5E0-9054-2750-91A8-28DD51F76FE4}"/>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B49140C5-A894-F2F0-5397-22F49A39F024}"/>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F5E3842B-017D-8B23-B374-A63D92EFFC53}"/>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521A54B2-8D95-2022-E1A3-C8F13DC33C06}"/>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2460FEDA-85C9-E392-5BD9-48F3917DB9BB}"/>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06672BC4-7C8C-FB3A-D102-1CD32620C7CC}"/>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B324BD8A-804B-518A-693D-5F60971F718B}"/>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45787C5A-DDFB-10CD-1D39-EFBD2F339053}"/>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3838580F-5EC6-BE50-D657-78EBC446E04D}"/>
              </a:ext>
            </a:extLst>
          </p:cNvPr>
          <p:cNvSpPr/>
          <p:nvPr/>
        </p:nvSpPr>
        <p:spPr>
          <a:xfrm>
            <a:off x="4829349" y="852573"/>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4B3517E0-191A-1CD8-F4B7-D9280967BFA8}"/>
              </a:ext>
            </a:extLst>
          </p:cNvPr>
          <p:cNvSpPr/>
          <p:nvPr/>
        </p:nvSpPr>
        <p:spPr>
          <a:xfrm>
            <a:off x="504568" y="870862"/>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D4D44084-EF11-667F-4252-1C8669EFA838}"/>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4B974FDE-7467-1520-D049-29A9E692E17D}"/>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FFCD96FA-FFA2-E33D-D95A-DE6C2AD7D097}"/>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7205CB32-561E-3AA5-5287-BF2E97E8C464}"/>
              </a:ext>
            </a:extLst>
          </p:cNvPr>
          <p:cNvCxnSpPr>
            <a:cxnSpLocks/>
            <a:stCxn id="31" idx="6"/>
            <a:endCxn id="30" idx="2"/>
          </p:cNvCxnSpPr>
          <p:nvPr/>
        </p:nvCxnSpPr>
        <p:spPr>
          <a:xfrm flipV="1">
            <a:off x="3456288" y="1568606"/>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9A4F82DA-D4D0-268D-1ED0-58A49B7BC813}"/>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57853D73-AC6D-247A-448D-7147ECBA37C0}"/>
              </a:ext>
            </a:extLst>
          </p:cNvPr>
          <p:cNvSpPr txBox="1"/>
          <p:nvPr/>
        </p:nvSpPr>
        <p:spPr>
          <a:xfrm>
            <a:off x="1024680" y="2815786"/>
            <a:ext cx="4918788" cy="34163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err="1">
                <a:solidFill>
                  <a:schemeClr val="tx1"/>
                </a:solidFill>
                <a:latin typeface="Arial Bold" panose="020B0704020202020204" pitchFamily="34" charset="0"/>
                <a:cs typeface="Arial Bold" panose="020B0704020202020204" pitchFamily="34" charset="0"/>
              </a:rPr>
              <a:t>Render</a:t>
            </a:r>
            <a:r>
              <a:rPr lang="vi-VN" sz="2400" b="1" dirty="0">
                <a:solidFill>
                  <a:schemeClr val="tx1"/>
                </a:solidFill>
                <a:latin typeface="Arial Bold" panose="020B0704020202020204" pitchFamily="34" charset="0"/>
                <a:cs typeface="Arial Bold" panose="020B0704020202020204" pitchFamily="34" charset="0"/>
              </a:rPr>
              <a:t> được sử dụng làm nền tảng </a:t>
            </a:r>
            <a:r>
              <a:rPr lang="vi-VN" sz="2400" b="1" dirty="0" err="1">
                <a:solidFill>
                  <a:schemeClr val="tx1"/>
                </a:solidFill>
                <a:latin typeface="Arial Bold" panose="020B0704020202020204" pitchFamily="34" charset="0"/>
                <a:cs typeface="Arial Bold" panose="020B0704020202020204" pitchFamily="34" charset="0"/>
              </a:rPr>
              <a:t>hosting</a:t>
            </a:r>
            <a:r>
              <a:rPr lang="vi-VN" sz="2400" b="1" dirty="0">
                <a:solidFill>
                  <a:schemeClr val="tx1"/>
                </a:solidFill>
                <a:latin typeface="Arial Bold" panose="020B0704020202020204" pitchFamily="34" charset="0"/>
                <a:cs typeface="Arial Bold" panose="020B0704020202020204" pitchFamily="34" charset="0"/>
              </a:rPr>
              <a:t> cho hệ thống </a:t>
            </a:r>
            <a:r>
              <a:rPr lang="vi-VN" sz="2400" b="1" dirty="0" err="1">
                <a:solidFill>
                  <a:schemeClr val="tx1"/>
                </a:solidFill>
                <a:latin typeface="Arial Bold" panose="020B0704020202020204" pitchFamily="34" charset="0"/>
                <a:cs typeface="Arial Bold" panose="020B0704020202020204" pitchFamily="34" charset="0"/>
              </a:rPr>
              <a:t>backend</a:t>
            </a:r>
            <a:r>
              <a:rPr lang="vi-VN" sz="2400" b="1" dirty="0">
                <a:solidFill>
                  <a:schemeClr val="tx1"/>
                </a:solidFill>
                <a:latin typeface="Arial Bold" panose="020B0704020202020204" pitchFamily="34" charset="0"/>
                <a:cs typeface="Arial Bold" panose="020B0704020202020204" pitchFamily="34" charset="0"/>
              </a:rPr>
              <a:t>. Toàn bộ Server (Node.js) và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đều được triển khai và vận hành trên </a:t>
            </a:r>
            <a:r>
              <a:rPr lang="vi-VN" sz="2400" b="1" dirty="0" err="1">
                <a:solidFill>
                  <a:schemeClr val="tx1"/>
                </a:solidFill>
                <a:latin typeface="Arial Bold" panose="020B0704020202020204" pitchFamily="34" charset="0"/>
                <a:cs typeface="Arial Bold" panose="020B0704020202020204" pitchFamily="34" charset="0"/>
              </a:rPr>
              <a:t>Render</a:t>
            </a:r>
            <a:r>
              <a:rPr lang="vi-VN" sz="2400" b="1" dirty="0">
                <a:solidFill>
                  <a:schemeClr val="tx1"/>
                </a:solidFill>
                <a:latin typeface="Arial Bold" panose="020B0704020202020204" pitchFamily="34" charset="0"/>
                <a:cs typeface="Arial Bold" panose="020B0704020202020204" pitchFamily="34" charset="0"/>
              </a:rPr>
              <a:t>, giúp hệ thống hoạt động ổn định, truy cập được qua </a:t>
            </a:r>
            <a:r>
              <a:rPr lang="vi-VN" sz="2400" b="1" dirty="0" err="1">
                <a:solidFill>
                  <a:schemeClr val="tx1"/>
                </a:solidFill>
                <a:latin typeface="Arial Bold" panose="020B0704020202020204" pitchFamily="34" charset="0"/>
                <a:cs typeface="Arial Bold" panose="020B0704020202020204" pitchFamily="34" charset="0"/>
              </a:rPr>
              <a:t>Internet</a:t>
            </a:r>
            <a:r>
              <a:rPr lang="vi-VN" sz="2400" b="1" dirty="0">
                <a:solidFill>
                  <a:schemeClr val="tx1"/>
                </a:solidFill>
                <a:latin typeface="Arial Bold" panose="020B0704020202020204" pitchFamily="34" charset="0"/>
                <a:cs typeface="Arial Bold" panose="020B0704020202020204" pitchFamily="34" charset="0"/>
              </a:rPr>
              <a:t> mà không cần máy chủ vật lý riêng.</a:t>
            </a:r>
          </a:p>
        </p:txBody>
      </p:sp>
      <p:sp>
        <p:nvSpPr>
          <p:cNvPr id="57" name="Hộp Văn bản 56">
            <a:extLst>
              <a:ext uri="{FF2B5EF4-FFF2-40B4-BE49-F238E27FC236}">
                <a16:creationId xmlns:a16="http://schemas.microsoft.com/office/drawing/2014/main" id="{BAE345AE-8D71-B58E-FAF8-3A7A9C2FAEE1}"/>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D843A54F-06F3-7871-465F-F7CAC66A26D5}"/>
              </a:ext>
            </a:extLst>
          </p:cNvPr>
          <p:cNvSpPr/>
          <p:nvPr/>
        </p:nvSpPr>
        <p:spPr>
          <a:xfrm>
            <a:off x="8946752" y="870862"/>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E2DD73F0-9FA4-68E3-F336-14D35F9F2726}"/>
              </a:ext>
            </a:extLst>
          </p:cNvPr>
          <p:cNvCxnSpPr>
            <a:cxnSpLocks/>
          </p:cNvCxnSpPr>
          <p:nvPr/>
        </p:nvCxnSpPr>
        <p:spPr>
          <a:xfrm flipV="1">
            <a:off x="7560681" y="1550317"/>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0A29A888-6112-ACE1-C080-577FC97031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919" y="2554177"/>
            <a:ext cx="5429082" cy="4303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8797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91117-D162-D798-DA6B-E5FE7D3A7EC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D0FDFC9-CF3F-94F9-E9E0-4F18B338C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9B65EE12-9AE6-D123-DE83-ECF43935F18D}"/>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31713A65-0355-9157-579A-731F1441DCF5}"/>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3717429F-976F-9ACB-B639-D62EE1DCAE6C}"/>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8C9B5674-44C8-5BAB-25F7-7DBBBB9D913F}"/>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8FF3B139-F14C-49A8-D621-7AD16B4A9751}"/>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9E36C2E7-C2A4-448B-F576-A157FC71F989}"/>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3A723C0A-F1C0-2D91-470D-C9BF9DA4CCA3}"/>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AA32890D-6E9D-C6EB-2403-FB9BC118434F}"/>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EAE6A193-2CF9-51F8-9480-D1275ECA33E6}"/>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3BA10096-2FED-9037-6556-80574522FE5B}"/>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9B1B6328-4309-E02C-ECDB-D8E82810389A}"/>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BD33E411-04AA-E694-E3D3-039C375DFC12}"/>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412CDB11-F233-4C8A-A523-569F446DAC6B}"/>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4B8556D2-3B76-5D56-F9A3-9F40D65EF919}"/>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B4F7871F-47E3-23AD-802E-D359F3F229F2}"/>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2891F546-5714-08F4-45FD-3AB83F831036}"/>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061E557B-15B3-D238-B60E-C942700E2709}"/>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DAF8B490-FEDD-F91A-0085-F4F564E1ABC8}"/>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7E9F6501-CDB0-EF84-18E0-882D72552EDE}"/>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53C42A2F-8107-A403-8A90-E132E7FB5783}"/>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C865D99C-5514-8883-F7D8-83C4F4483640}"/>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F6C5C46E-E2B5-F9ED-671B-1E4638180E53}"/>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A7C5297E-2D71-D4B4-42DA-85D85DC4D5B4}"/>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AED15151-E5ED-03E7-1810-7AFEF944C836}"/>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C45AE2DF-7836-B2A0-76DB-0B62BAA47BB2}"/>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93A04A2B-E387-2EAF-6F25-0EA81E769111}"/>
              </a:ext>
            </a:extLst>
          </p:cNvPr>
          <p:cNvSpPr/>
          <p:nvPr/>
        </p:nvSpPr>
        <p:spPr>
          <a:xfrm>
            <a:off x="4829349" y="852573"/>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B7FD6456-05AC-4D93-7017-DFCA2830ACEE}"/>
              </a:ext>
            </a:extLst>
          </p:cNvPr>
          <p:cNvSpPr/>
          <p:nvPr/>
        </p:nvSpPr>
        <p:spPr>
          <a:xfrm>
            <a:off x="504568" y="870862"/>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982845D5-B45F-14A9-F115-08AB571AA348}"/>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5B835059-9A13-49A2-0055-70202A0A77D4}"/>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3153CFB5-9416-8A08-54C9-AFDB3EB13291}"/>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22D738C8-437C-C75D-816D-A846DC1549AF}"/>
              </a:ext>
            </a:extLst>
          </p:cNvPr>
          <p:cNvCxnSpPr>
            <a:cxnSpLocks/>
            <a:stCxn id="31" idx="6"/>
            <a:endCxn id="30" idx="2"/>
          </p:cNvCxnSpPr>
          <p:nvPr/>
        </p:nvCxnSpPr>
        <p:spPr>
          <a:xfrm flipV="1">
            <a:off x="3456288" y="1568606"/>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63C2A5FE-0EA3-31B9-2271-20E4A9BB55E7}"/>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DF7538DC-FDC6-0E64-4ACB-8673085DDE6E}"/>
              </a:ext>
            </a:extLst>
          </p:cNvPr>
          <p:cNvSpPr txBox="1"/>
          <p:nvPr/>
        </p:nvSpPr>
        <p:spPr>
          <a:xfrm>
            <a:off x="1265448" y="3402028"/>
            <a:ext cx="10015913"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Server được xây dựng bằng </a:t>
            </a:r>
            <a:r>
              <a:rPr lang="vi-VN" sz="2400" b="1" dirty="0" err="1">
                <a:solidFill>
                  <a:schemeClr val="tx1"/>
                </a:solidFill>
                <a:latin typeface="Arial Bold" panose="020B0704020202020204" pitchFamily="34" charset="0"/>
                <a:cs typeface="Arial Bold" panose="020B0704020202020204" pitchFamily="34" charset="0"/>
              </a:rPr>
              <a:t>JavaScript</a:t>
            </a:r>
            <a:r>
              <a:rPr lang="vi-VN" sz="2400" b="1" dirty="0">
                <a:solidFill>
                  <a:schemeClr val="tx1"/>
                </a:solidFill>
                <a:latin typeface="Arial Bold" panose="020B0704020202020204" pitchFamily="34" charset="0"/>
                <a:cs typeface="Arial Bold" panose="020B0704020202020204" pitchFamily="34" charset="0"/>
              </a:rPr>
              <a:t> trên nền tảng Node.js, sử dụng Express.js để triển khai các </a:t>
            </a:r>
            <a:r>
              <a:rPr lang="vi-VN" sz="2400" b="1" dirty="0" err="1">
                <a:solidFill>
                  <a:schemeClr val="tx1"/>
                </a:solidFill>
                <a:latin typeface="Arial Bold" panose="020B0704020202020204" pitchFamily="34" charset="0"/>
                <a:cs typeface="Arial Bold" panose="020B0704020202020204" pitchFamily="34" charset="0"/>
              </a:rPr>
              <a:t>API</a:t>
            </a:r>
            <a:r>
              <a:rPr lang="vi-VN" sz="2400" b="1" dirty="0">
                <a:solidFill>
                  <a:schemeClr val="tx1"/>
                </a:solidFill>
                <a:latin typeface="Arial Bold" panose="020B0704020202020204" pitchFamily="34" charset="0"/>
                <a:cs typeface="Arial Bold" panose="020B0704020202020204" pitchFamily="34" charset="0"/>
              </a:rPr>
              <a:t>. Server đóng vai trò trung tâm xử lý, tiếp nhận dữ liệu từ thiết bị </a:t>
            </a:r>
            <a:r>
              <a:rPr lang="vi-VN" sz="2400" b="1" dirty="0" err="1">
                <a:solidFill>
                  <a:schemeClr val="tx1"/>
                </a:solidFill>
                <a:latin typeface="Arial Bold" panose="020B0704020202020204" pitchFamily="34" charset="0"/>
                <a:cs typeface="Arial Bold" panose="020B0704020202020204" pitchFamily="34" charset="0"/>
              </a:rPr>
              <a:t>IoT</a:t>
            </a:r>
            <a:r>
              <a:rPr lang="vi-VN" sz="2400" b="1" dirty="0">
                <a:solidFill>
                  <a:schemeClr val="tx1"/>
                </a:solidFill>
                <a:latin typeface="Arial Bold" panose="020B0704020202020204" pitchFamily="34" charset="0"/>
                <a:cs typeface="Arial Bold" panose="020B0704020202020204" pitchFamily="34" charset="0"/>
              </a:rPr>
              <a:t>, xử lý </a:t>
            </a:r>
            <a:r>
              <a:rPr lang="vi-VN" sz="2400" b="1" dirty="0" err="1">
                <a:solidFill>
                  <a:schemeClr val="tx1"/>
                </a:solidFill>
                <a:latin typeface="Arial Bold" panose="020B0704020202020204" pitchFamily="34" charset="0"/>
                <a:cs typeface="Arial Bold" panose="020B0704020202020204" pitchFamily="34" charset="0"/>
              </a:rPr>
              <a:t>logic</a:t>
            </a:r>
            <a:r>
              <a:rPr lang="vi-VN" sz="2400" b="1" dirty="0">
                <a:solidFill>
                  <a:schemeClr val="tx1"/>
                </a:solidFill>
                <a:latin typeface="Arial Bold" panose="020B0704020202020204" pitchFamily="34" charset="0"/>
                <a:cs typeface="Arial Bold" panose="020B0704020202020204" pitchFamily="34" charset="0"/>
              </a:rPr>
              <a:t> điều khiển, giao tiếp với cơ sở dữ liệu và cung cấp dữ liệu cho giao diện người dùng</a:t>
            </a:r>
          </a:p>
        </p:txBody>
      </p:sp>
      <p:sp>
        <p:nvSpPr>
          <p:cNvPr id="57" name="Hộp Văn bản 56">
            <a:extLst>
              <a:ext uri="{FF2B5EF4-FFF2-40B4-BE49-F238E27FC236}">
                <a16:creationId xmlns:a16="http://schemas.microsoft.com/office/drawing/2014/main" id="{9D84C8AB-61D1-E332-3119-60FE819E5387}"/>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B544732A-29D2-D794-3E32-55CDE2D2BCE1}"/>
              </a:ext>
            </a:extLst>
          </p:cNvPr>
          <p:cNvSpPr/>
          <p:nvPr/>
        </p:nvSpPr>
        <p:spPr>
          <a:xfrm>
            <a:off x="8946752" y="870862"/>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7EEDE45D-7363-4F6E-5C80-359A034733F8}"/>
              </a:ext>
            </a:extLst>
          </p:cNvPr>
          <p:cNvCxnSpPr>
            <a:cxnSpLocks/>
          </p:cNvCxnSpPr>
          <p:nvPr/>
        </p:nvCxnSpPr>
        <p:spPr>
          <a:xfrm flipV="1">
            <a:off x="7560681" y="1550317"/>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229A1B3E-7D41-558C-BD5A-3CB8553B2C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472" y="-4568502"/>
            <a:ext cx="5429082" cy="4303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341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FE1D1-C1F0-BF1F-36A1-3493C7AE7CD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40E5EC3-20FF-C421-3AED-05B1194AB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ADDA7ACB-6879-0412-1A00-BF77E418534C}"/>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A95D25B5-F702-A98C-1C88-4F1A10A53BD7}"/>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D8C2AA82-4C71-2F82-E245-C900C339AE90}"/>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17CBF1AA-1146-2634-600F-5CF5E24C4CF8}"/>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8CF1AAF9-34AB-B90E-E388-C15F334B1884}"/>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CF80E343-B02D-0FA6-F6E9-DDCDF8D84BA6}"/>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2F9B3191-850D-5461-BF10-E979B7044788}"/>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CD1C7765-9C82-F796-F463-5D11423B698B}"/>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3BC025C8-9522-8EC4-52AC-BC3B52184C33}"/>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27A9D2B3-1625-2B6D-1CFA-6C8DB4F36940}"/>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EDA22227-C5B5-C7B2-D209-DF9FA4AC176E}"/>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C333FF6A-1648-69E4-75C4-261E848B538A}"/>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34E9AA37-FB79-677E-476F-318DA0256F89}"/>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0DB5A40D-3BBD-98AD-7C6E-C266560441DF}"/>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9C411973-03B5-C110-ABFB-E2D121617C41}"/>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EC831C36-EB2D-4C11-8A01-313B39DEC484}"/>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1C25281B-92CD-A28C-EE83-9E4E9560C9B7}"/>
              </a:ext>
            </a:extLst>
          </p:cNvPr>
          <p:cNvSpPr txBox="1"/>
          <p:nvPr/>
        </p:nvSpPr>
        <p:spPr>
          <a:xfrm>
            <a:off x="7738901" y="-979944"/>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D4BEB2C6-B74C-7950-3F34-839594593337}"/>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E120E78A-376B-4EBB-21B7-D3F483C42C1B}"/>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CA5020B2-7DDB-8BD7-1338-8B8AAE5E5405}"/>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27FE4C17-AF1A-D710-1BBC-43C0871A7663}"/>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8F8D790E-4B51-CC97-E224-655E38D9FBF4}"/>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7395C456-D0D3-726C-1743-1C09EB01E030}"/>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9D0337A8-0169-5A78-0344-078244054140}"/>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FE9F4711-9C73-EEDB-AE4D-A696CF66F77C}"/>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37FE7B75-5FC2-36F2-B820-7082C6CB9E83}"/>
              </a:ext>
            </a:extLst>
          </p:cNvPr>
          <p:cNvSpPr/>
          <p:nvPr/>
        </p:nvSpPr>
        <p:spPr>
          <a:xfrm>
            <a:off x="4829349" y="852573"/>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77F5D49B-F7F9-FAB3-1074-4E6F6AA14453}"/>
              </a:ext>
            </a:extLst>
          </p:cNvPr>
          <p:cNvSpPr/>
          <p:nvPr/>
        </p:nvSpPr>
        <p:spPr>
          <a:xfrm>
            <a:off x="504568" y="870862"/>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21B9A68D-9894-2A45-F16A-2788D0D02699}"/>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8E746E80-7699-1254-AD69-554568C28817}"/>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743EE7BA-E039-4443-4BE8-1792BA37050D}"/>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0BD0C0EF-8FF8-CEA6-EC7D-E7BFE4F62666}"/>
              </a:ext>
            </a:extLst>
          </p:cNvPr>
          <p:cNvCxnSpPr>
            <a:cxnSpLocks/>
            <a:stCxn id="31" idx="6"/>
            <a:endCxn id="30" idx="2"/>
          </p:cNvCxnSpPr>
          <p:nvPr/>
        </p:nvCxnSpPr>
        <p:spPr>
          <a:xfrm flipV="1">
            <a:off x="3456288" y="1568606"/>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5FA7214A-6125-527C-2E30-7D0692042821}"/>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E60C7B31-26E8-9B7A-A683-0FF28C1088EB}"/>
              </a:ext>
            </a:extLst>
          </p:cNvPr>
          <p:cNvSpPr txBox="1"/>
          <p:nvPr/>
        </p:nvSpPr>
        <p:spPr>
          <a:xfrm>
            <a:off x="1265448" y="3402028"/>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Sau khi nhận dữ liệu từ thiết bị, Server thực hiện lưu trữ các thông tin như dữ liệu cảm biến, trạng thái hệ thống, chế độ hoạt động và lịch tưới vào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đóng vai trò lưu trữ lâu dài, phục vụ truy vấn và thống kê</a:t>
            </a:r>
          </a:p>
        </p:txBody>
      </p:sp>
      <p:sp>
        <p:nvSpPr>
          <p:cNvPr id="57" name="Hộp Văn bản 56">
            <a:extLst>
              <a:ext uri="{FF2B5EF4-FFF2-40B4-BE49-F238E27FC236}">
                <a16:creationId xmlns:a16="http://schemas.microsoft.com/office/drawing/2014/main" id="{BDA16F4C-4DB9-FA4B-A30C-F7F4A77A9EEE}"/>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820F8173-8B89-6E52-62C2-A1B7F9443A85}"/>
              </a:ext>
            </a:extLst>
          </p:cNvPr>
          <p:cNvSpPr/>
          <p:nvPr/>
        </p:nvSpPr>
        <p:spPr>
          <a:xfrm>
            <a:off x="8946752" y="870862"/>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A353B34D-618E-F74B-8FC9-791FFD407B4E}"/>
              </a:ext>
            </a:extLst>
          </p:cNvPr>
          <p:cNvCxnSpPr>
            <a:cxnSpLocks/>
          </p:cNvCxnSpPr>
          <p:nvPr/>
        </p:nvCxnSpPr>
        <p:spPr>
          <a:xfrm flipV="1">
            <a:off x="7560681" y="1550317"/>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FBD730D9-3155-FFB8-1494-80FD0F25C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472" y="-4568502"/>
            <a:ext cx="5429082" cy="4303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542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4DC8-C8B5-B394-89C6-7A2ABCF4D01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146C343-1530-6C19-5D98-3AE907040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FBC82952-347F-6C59-8A82-F02B3F7D369B}"/>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B485E556-8219-C7B6-E924-71EA93A670EF}"/>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F5F3C537-8E7E-28E2-52A3-027D619AE8F2}"/>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88D659FC-A5C9-2463-9272-628BE06C04E2}"/>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60865F6B-DB9A-5AC7-48D0-962B57753524}"/>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43291476-9915-27D9-FB5E-5B37E8B756FF}"/>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7FEEC5F1-C41B-9112-895F-890399CC6C2A}"/>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EBBCEB58-9892-4655-D6B7-B3F48DF05309}"/>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73CA3C14-6C51-2FB6-C4B3-815D708C9B48}"/>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A5CB48CE-96F5-AF56-E02E-CDAACB3242D5}"/>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73B52CDE-2370-3DB6-1AE9-177A21EEBA76}"/>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F338E6BC-0A78-4473-1BDA-C0A636D71EC9}"/>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5FE147F6-BFBD-9841-ABB5-942FB02E8654}"/>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F17DC698-6986-82BB-DA7B-FB21BB1B6010}"/>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EAD928C8-F40C-4B98-83DB-DF1CB15FEE4F}"/>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22F2BE30-12E5-9394-C445-D127BF1BA124}"/>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BFB17438-3041-9689-86D0-532495E60537}"/>
              </a:ext>
            </a:extLst>
          </p:cNvPr>
          <p:cNvSpPr txBox="1"/>
          <p:nvPr/>
        </p:nvSpPr>
        <p:spPr>
          <a:xfrm>
            <a:off x="5935672" y="-2686267"/>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0292E21B-5F01-6F77-CD5D-F2156A400119}"/>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6470A4A7-1A81-B46C-2705-E587DF8C4C7B}"/>
              </a:ext>
            </a:extLst>
          </p:cNvPr>
          <p:cNvSpPr txBox="1"/>
          <p:nvPr/>
        </p:nvSpPr>
        <p:spPr>
          <a:xfrm>
            <a:off x="-5603926" y="2400288"/>
            <a:ext cx="44963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 để hiển thị và điều khiển</a:t>
            </a:r>
          </a:p>
        </p:txBody>
      </p:sp>
      <p:sp>
        <p:nvSpPr>
          <p:cNvPr id="17" name="Hộp Văn bản 16">
            <a:extLst>
              <a:ext uri="{FF2B5EF4-FFF2-40B4-BE49-F238E27FC236}">
                <a16:creationId xmlns:a16="http://schemas.microsoft.com/office/drawing/2014/main" id="{1C8B51F3-D955-BE80-D753-7E040EE306A9}"/>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D4E8A19F-A7A9-0DA5-C141-E40994256270}"/>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6F602568-7EB5-55E2-8850-0684C8821C0A}"/>
              </a:ext>
            </a:extLst>
          </p:cNvPr>
          <p:cNvSpPr txBox="1"/>
          <p:nvPr/>
        </p:nvSpPr>
        <p:spPr>
          <a:xfrm>
            <a:off x="0" y="120660"/>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A02A9E4E-6242-05BA-A95F-BBEB76AA53D3}"/>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C26B79E6-B3EC-1597-CF13-74FBEE6C41C6}"/>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023EB568-12EE-0217-E2FE-A9B7A82304D4}"/>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A655E775-054D-2CF3-11D4-922DD76266B9}"/>
              </a:ext>
            </a:extLst>
          </p:cNvPr>
          <p:cNvSpPr/>
          <p:nvPr/>
        </p:nvSpPr>
        <p:spPr>
          <a:xfrm>
            <a:off x="4829349" y="852573"/>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0CF20CEA-547C-01AC-C827-AA348FF8B590}"/>
              </a:ext>
            </a:extLst>
          </p:cNvPr>
          <p:cNvSpPr/>
          <p:nvPr/>
        </p:nvSpPr>
        <p:spPr>
          <a:xfrm>
            <a:off x="504568" y="870862"/>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B68B152A-E48B-E47C-1AE6-8B746A851BC5}"/>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888F9309-365A-EF7D-DC2D-E633CC422415}"/>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ECF1E5DE-EA25-6BDF-7E47-B407E1F4D228}"/>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22F0520E-1857-1157-B583-55D02FF45439}"/>
              </a:ext>
            </a:extLst>
          </p:cNvPr>
          <p:cNvCxnSpPr>
            <a:cxnSpLocks/>
            <a:stCxn id="31" idx="6"/>
            <a:endCxn id="30" idx="2"/>
          </p:cNvCxnSpPr>
          <p:nvPr/>
        </p:nvCxnSpPr>
        <p:spPr>
          <a:xfrm flipV="1">
            <a:off x="3456288" y="1568606"/>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17081AC8-3516-0D84-52DB-1EA741ECE8D8}"/>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E0BB465C-BE93-78F0-32E8-5E7003D8F2C2}"/>
              </a:ext>
            </a:extLst>
          </p:cNvPr>
          <p:cNvSpPr txBox="1"/>
          <p:nvPr/>
        </p:nvSpPr>
        <p:spPr>
          <a:xfrm>
            <a:off x="1265448" y="2907239"/>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Giao diện người dùng (UI) gửi các yêu cầu thao tác như xem dữ liệu, điều khiển bơm, thay đổi chế độ hoạt động hoặc thiết lập lịch tưới thông qua các </a:t>
            </a:r>
            <a:r>
              <a:rPr lang="vi-VN" sz="2400" b="1" dirty="0" err="1">
                <a:solidFill>
                  <a:schemeClr val="tx1"/>
                </a:solidFill>
                <a:latin typeface="Arial Bold" panose="020B0704020202020204" pitchFamily="34" charset="0"/>
                <a:cs typeface="Arial Bold" panose="020B0704020202020204" pitchFamily="34" charset="0"/>
              </a:rPr>
              <a:t>API</a:t>
            </a:r>
            <a:r>
              <a:rPr lang="vi-VN" sz="2400" b="1" dirty="0">
                <a:solidFill>
                  <a:schemeClr val="tx1"/>
                </a:solidFill>
                <a:latin typeface="Arial Bold" panose="020B0704020202020204" pitchFamily="34" charset="0"/>
                <a:cs typeface="Arial Bold" panose="020B0704020202020204" pitchFamily="34" charset="0"/>
              </a:rPr>
              <a:t> của Server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a:t>
            </a:r>
            <a:r>
              <a:rPr lang="vi-VN" sz="2400" b="1" dirty="0" err="1">
                <a:solidFill>
                  <a:schemeClr val="tx1"/>
                </a:solidFill>
                <a:latin typeface="Arial Bold" panose="020B0704020202020204" pitchFamily="34" charset="0"/>
                <a:cs typeface="Arial Bold" panose="020B0704020202020204" pitchFamily="34" charset="0"/>
              </a:rPr>
              <a:t>POST</a:t>
            </a:r>
            <a:r>
              <a:rPr lang="vi-VN" sz="2400" b="1" dirty="0">
                <a:solidFill>
                  <a:schemeClr val="tx1"/>
                </a:solidFill>
                <a:latin typeface="Arial Bold" panose="020B0704020202020204" pitchFamily="34" charset="0"/>
                <a:cs typeface="Arial Bold" panose="020B0704020202020204" pitchFamily="34" charset="0"/>
              </a:rPr>
              <a:t>). Các yêu cầu này được Server tiếp nhận và xử lý theo </a:t>
            </a:r>
            <a:r>
              <a:rPr lang="vi-VN" sz="2400" b="1" dirty="0" err="1">
                <a:solidFill>
                  <a:schemeClr val="tx1"/>
                </a:solidFill>
                <a:latin typeface="Arial Bold" panose="020B0704020202020204" pitchFamily="34" charset="0"/>
                <a:cs typeface="Arial Bold" panose="020B0704020202020204" pitchFamily="34" charset="0"/>
              </a:rPr>
              <a:t>logic</a:t>
            </a:r>
            <a:r>
              <a:rPr lang="vi-VN" sz="2400" b="1" dirty="0">
                <a:solidFill>
                  <a:schemeClr val="tx1"/>
                </a:solidFill>
                <a:latin typeface="Arial Bold" panose="020B0704020202020204" pitchFamily="34" charset="0"/>
                <a:cs typeface="Arial Bold" panose="020B0704020202020204" pitchFamily="34" charset="0"/>
              </a:rPr>
              <a:t> hệ thống</a:t>
            </a:r>
          </a:p>
        </p:txBody>
      </p:sp>
      <p:sp>
        <p:nvSpPr>
          <p:cNvPr id="57" name="Hộp Văn bản 56">
            <a:extLst>
              <a:ext uri="{FF2B5EF4-FFF2-40B4-BE49-F238E27FC236}">
                <a16:creationId xmlns:a16="http://schemas.microsoft.com/office/drawing/2014/main" id="{96AD36B3-3CD6-8365-12D6-D2E8F25B488F}"/>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B525CCF3-D565-D54B-692F-7B7A93BF745A}"/>
              </a:ext>
            </a:extLst>
          </p:cNvPr>
          <p:cNvSpPr/>
          <p:nvPr/>
        </p:nvSpPr>
        <p:spPr>
          <a:xfrm>
            <a:off x="8946752" y="870862"/>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320B770D-D120-C3EE-8F8B-C9F29618A6AC}"/>
              </a:ext>
            </a:extLst>
          </p:cNvPr>
          <p:cNvCxnSpPr>
            <a:cxnSpLocks/>
          </p:cNvCxnSpPr>
          <p:nvPr/>
        </p:nvCxnSpPr>
        <p:spPr>
          <a:xfrm flipV="1">
            <a:off x="7560681" y="1550317"/>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E40545DF-5124-883A-C4F4-324BE8179F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472" y="-4568502"/>
            <a:ext cx="5429082" cy="4303823"/>
          </a:xfrm>
          <a:prstGeom prst="rect">
            <a:avLst/>
          </a:prstGeom>
          <a:noFill/>
          <a:extLst>
            <a:ext uri="{909E8E84-426E-40DD-AFC4-6F175D3DCCD1}">
              <a14:hiddenFill xmlns:a14="http://schemas.microsoft.com/office/drawing/2010/main">
                <a:solidFill>
                  <a:srgbClr val="FFFFFF"/>
                </a:solidFill>
              </a14:hiddenFill>
            </a:ext>
          </a:extLst>
        </p:spPr>
      </p:pic>
      <p:sp>
        <p:nvSpPr>
          <p:cNvPr id="20" name="Hộp Văn bản 19">
            <a:extLst>
              <a:ext uri="{FF2B5EF4-FFF2-40B4-BE49-F238E27FC236}">
                <a16:creationId xmlns:a16="http://schemas.microsoft.com/office/drawing/2014/main" id="{A40A384E-037D-6568-9FF3-8CDDDA4E8FC8}"/>
              </a:ext>
            </a:extLst>
          </p:cNvPr>
          <p:cNvSpPr txBox="1"/>
          <p:nvPr/>
        </p:nvSpPr>
        <p:spPr>
          <a:xfrm>
            <a:off x="1265448" y="4796999"/>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Server truy vấn dữ liệu từ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hoặc lấy dữ liệu trạng thái hiện tại, sau đó trả kết quả về cho UI. UI hiển thị dữ liệu cho người dùng theo thời gian thực, giúp người dùng theo dõi và điều khiển hệ thống từ xa</a:t>
            </a:r>
          </a:p>
        </p:txBody>
      </p:sp>
    </p:spTree>
    <p:extLst>
      <p:ext uri="{BB962C8B-B14F-4D97-AF65-F5344CB8AC3E}">
        <p14:creationId xmlns:p14="http://schemas.microsoft.com/office/powerpoint/2010/main" val="520270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D567-FFC8-10F7-1C59-4454A3B8144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50C064C-69A8-B34C-D12D-7044CC025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E213CC37-176A-E5F7-9815-753934B0CFC5}"/>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4703400C-9532-C655-0917-6C9EBFA618F7}"/>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FE5A3E33-2282-D9EC-457E-DAD252EDC9FF}"/>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1BD7968B-50B6-3E9F-DF88-4DF5A5A85585}"/>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31AD0148-369D-772A-DF63-1E6E415980D5}"/>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71D516E-0DAB-462C-3D6A-F0DDD3F880F4}"/>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75169249-CC1F-E19D-B579-5A270D60FE5F}"/>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832BA819-DE60-AD46-4E4E-655A86F7267B}"/>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48CF6254-8CE7-FA19-4823-43643227E631}"/>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7491D07C-8DD6-451C-AC03-83957A34AA02}"/>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5936DE78-5AA6-2796-2C0C-0F17805F6384}"/>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BF4A18C2-4696-541E-853D-E49BDDE11269}"/>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E1FE80D1-011F-C38B-921B-1ED5EBD7FAF1}"/>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562635AF-A189-8A16-5286-B4DEDA8E43C9}"/>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2D126A76-C89D-23B0-4B76-3B49B5D7CF4C}"/>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519BE593-D129-F2C9-24A5-1EAA8CF848C7}"/>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89BABBE3-DA37-630B-225A-66661426A2EF}"/>
              </a:ext>
            </a:extLst>
          </p:cNvPr>
          <p:cNvSpPr txBox="1"/>
          <p:nvPr/>
        </p:nvSpPr>
        <p:spPr>
          <a:xfrm>
            <a:off x="5935672" y="-2686267"/>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7F3E71AC-6477-C3AF-B917-77585074919F}"/>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A44A1536-E5B7-313B-3F96-833CA59D4A78}"/>
              </a:ext>
            </a:extLst>
          </p:cNvPr>
          <p:cNvSpPr txBox="1"/>
          <p:nvPr/>
        </p:nvSpPr>
        <p:spPr>
          <a:xfrm>
            <a:off x="0" y="3580548"/>
            <a:ext cx="409733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Hệ thống phần cứng </a:t>
            </a:r>
          </a:p>
        </p:txBody>
      </p:sp>
      <p:sp>
        <p:nvSpPr>
          <p:cNvPr id="17" name="Hộp Văn bản 16">
            <a:extLst>
              <a:ext uri="{FF2B5EF4-FFF2-40B4-BE49-F238E27FC236}">
                <a16:creationId xmlns:a16="http://schemas.microsoft.com/office/drawing/2014/main" id="{924817E0-BC19-035E-73D2-98331831A380}"/>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DF581E7F-3C9C-CA7D-3E74-F59C2534F01B}"/>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368EBB7F-0128-3825-5B28-07D63DE51D94}"/>
              </a:ext>
            </a:extLst>
          </p:cNvPr>
          <p:cNvSpPr txBox="1"/>
          <p:nvPr/>
        </p:nvSpPr>
        <p:spPr>
          <a:xfrm>
            <a:off x="3974297" y="-2426997"/>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E811C156-933B-C420-9ACF-3419B7C3BCA6}"/>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502709DE-5E2C-1492-9BEA-2795D4DE05B1}"/>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F30058E5-239E-BFD5-8B44-C4C8435A31F4}"/>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EE6BEE3E-4488-B8D2-3D40-F677E73B31D6}"/>
              </a:ext>
            </a:extLst>
          </p:cNvPr>
          <p:cNvSpPr/>
          <p:nvPr/>
        </p:nvSpPr>
        <p:spPr>
          <a:xfrm>
            <a:off x="-1313189" y="-3736677"/>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6BBEF96B-9FDA-2389-BC04-FE409A516BF1}"/>
              </a:ext>
            </a:extLst>
          </p:cNvPr>
          <p:cNvSpPr/>
          <p:nvPr/>
        </p:nvSpPr>
        <p:spPr>
          <a:xfrm>
            <a:off x="-5637970" y="-3718388"/>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E35D2F46-B290-544F-E7AC-B755AB444BDF}"/>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C592A097-BEFA-97B3-66BD-B6FF31E49FCB}"/>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3FA1364B-D2FB-2754-8348-CF681D015DB0}"/>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8B3B807A-1846-ED0A-2248-34EFEF02A050}"/>
              </a:ext>
            </a:extLst>
          </p:cNvPr>
          <p:cNvCxnSpPr>
            <a:cxnSpLocks/>
            <a:stCxn id="31" idx="6"/>
            <a:endCxn id="30" idx="2"/>
          </p:cNvCxnSpPr>
          <p:nvPr/>
        </p:nvCxnSpPr>
        <p:spPr>
          <a:xfrm flipV="1">
            <a:off x="-2686250" y="-3020644"/>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DCC22AB4-FE39-B604-E10A-4E9F91ECB298}"/>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E1503E5B-E911-976D-8EEA-BD4CCD99FEF7}"/>
              </a:ext>
            </a:extLst>
          </p:cNvPr>
          <p:cNvSpPr txBox="1"/>
          <p:nvPr/>
        </p:nvSpPr>
        <p:spPr>
          <a:xfrm>
            <a:off x="-7276918" y="-5228767"/>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Giao diện người dùng (UI) gửi các yêu cầu thao tác như xem dữ liệu, điều khiển bơm, thay đổi chế độ hoạt động hoặc thiết lập lịch tưới thông qua các </a:t>
            </a:r>
            <a:r>
              <a:rPr lang="vi-VN" sz="2400" b="1" dirty="0" err="1">
                <a:solidFill>
                  <a:schemeClr val="tx1"/>
                </a:solidFill>
                <a:latin typeface="Arial Bold" panose="020B0704020202020204" pitchFamily="34" charset="0"/>
                <a:cs typeface="Arial Bold" panose="020B0704020202020204" pitchFamily="34" charset="0"/>
              </a:rPr>
              <a:t>API</a:t>
            </a:r>
            <a:r>
              <a:rPr lang="vi-VN" sz="2400" b="1" dirty="0">
                <a:solidFill>
                  <a:schemeClr val="tx1"/>
                </a:solidFill>
                <a:latin typeface="Arial Bold" panose="020B0704020202020204" pitchFamily="34" charset="0"/>
                <a:cs typeface="Arial Bold" panose="020B0704020202020204" pitchFamily="34" charset="0"/>
              </a:rPr>
              <a:t> của Server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a:t>
            </a:r>
            <a:r>
              <a:rPr lang="vi-VN" sz="2400" b="1" dirty="0" err="1">
                <a:solidFill>
                  <a:schemeClr val="tx1"/>
                </a:solidFill>
                <a:latin typeface="Arial Bold" panose="020B0704020202020204" pitchFamily="34" charset="0"/>
                <a:cs typeface="Arial Bold" panose="020B0704020202020204" pitchFamily="34" charset="0"/>
              </a:rPr>
              <a:t>POST</a:t>
            </a:r>
            <a:r>
              <a:rPr lang="vi-VN" sz="2400" b="1" dirty="0">
                <a:solidFill>
                  <a:schemeClr val="tx1"/>
                </a:solidFill>
                <a:latin typeface="Arial Bold" panose="020B0704020202020204" pitchFamily="34" charset="0"/>
                <a:cs typeface="Arial Bold" panose="020B0704020202020204" pitchFamily="34" charset="0"/>
              </a:rPr>
              <a:t>). Các yêu cầu này được Server tiếp nhận và xử lý theo </a:t>
            </a:r>
            <a:r>
              <a:rPr lang="vi-VN" sz="2400" b="1" dirty="0" err="1">
                <a:solidFill>
                  <a:schemeClr val="tx1"/>
                </a:solidFill>
                <a:latin typeface="Arial Bold" panose="020B0704020202020204" pitchFamily="34" charset="0"/>
                <a:cs typeface="Arial Bold" panose="020B0704020202020204" pitchFamily="34" charset="0"/>
              </a:rPr>
              <a:t>logic</a:t>
            </a:r>
            <a:r>
              <a:rPr lang="vi-VN" sz="2400" b="1" dirty="0">
                <a:solidFill>
                  <a:schemeClr val="tx1"/>
                </a:solidFill>
                <a:latin typeface="Arial Bold" panose="020B0704020202020204" pitchFamily="34" charset="0"/>
                <a:cs typeface="Arial Bold" panose="020B0704020202020204" pitchFamily="34" charset="0"/>
              </a:rPr>
              <a:t> hệ thống</a:t>
            </a:r>
          </a:p>
        </p:txBody>
      </p:sp>
      <p:sp>
        <p:nvSpPr>
          <p:cNvPr id="57" name="Hộp Văn bản 56">
            <a:extLst>
              <a:ext uri="{FF2B5EF4-FFF2-40B4-BE49-F238E27FC236}">
                <a16:creationId xmlns:a16="http://schemas.microsoft.com/office/drawing/2014/main" id="{D4AA1A9A-0B4E-B213-D220-F84D8AA88366}"/>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8FDC5BC6-D79E-5B04-BF64-6A3279006E9C}"/>
              </a:ext>
            </a:extLst>
          </p:cNvPr>
          <p:cNvSpPr/>
          <p:nvPr/>
        </p:nvSpPr>
        <p:spPr>
          <a:xfrm>
            <a:off x="-2084363" y="-3637424"/>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624D74B8-00A9-90F9-FEA2-072AAEBF056A}"/>
              </a:ext>
            </a:extLst>
          </p:cNvPr>
          <p:cNvCxnSpPr>
            <a:cxnSpLocks/>
          </p:cNvCxnSpPr>
          <p:nvPr/>
        </p:nvCxnSpPr>
        <p:spPr>
          <a:xfrm flipV="1">
            <a:off x="1418143" y="-3038933"/>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ED63D556-7C86-83E6-9AD9-ED1A353CC4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472" y="-4568502"/>
            <a:ext cx="5429082" cy="4303823"/>
          </a:xfrm>
          <a:prstGeom prst="rect">
            <a:avLst/>
          </a:prstGeom>
          <a:noFill/>
          <a:extLst>
            <a:ext uri="{909E8E84-426E-40DD-AFC4-6F175D3DCCD1}">
              <a14:hiddenFill xmlns:a14="http://schemas.microsoft.com/office/drawing/2010/main">
                <a:solidFill>
                  <a:srgbClr val="FFFFFF"/>
                </a:solidFill>
              </a14:hiddenFill>
            </a:ext>
          </a:extLst>
        </p:spPr>
      </p:pic>
      <p:sp>
        <p:nvSpPr>
          <p:cNvPr id="20" name="Hộp Văn bản 19">
            <a:extLst>
              <a:ext uri="{FF2B5EF4-FFF2-40B4-BE49-F238E27FC236}">
                <a16:creationId xmlns:a16="http://schemas.microsoft.com/office/drawing/2014/main" id="{FA488DF9-22C4-4F18-F7EC-056DA042BCE2}"/>
              </a:ext>
            </a:extLst>
          </p:cNvPr>
          <p:cNvSpPr txBox="1"/>
          <p:nvPr/>
        </p:nvSpPr>
        <p:spPr>
          <a:xfrm>
            <a:off x="-7276918" y="-3339007"/>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Server truy vấn dữ liệu từ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hoặc lấy dữ liệu trạng thái hiện tại, sau đó trả kết quả về cho UI. UI hiển thị dữ liệu cho người dùng theo thời gian thực, giúp người dùng theo dõi và điều khiển hệ thống từ xa</a:t>
            </a:r>
          </a:p>
        </p:txBody>
      </p:sp>
      <p:sp>
        <p:nvSpPr>
          <p:cNvPr id="24" name="Hình Bầu dục 23">
            <a:extLst>
              <a:ext uri="{FF2B5EF4-FFF2-40B4-BE49-F238E27FC236}">
                <a16:creationId xmlns:a16="http://schemas.microsoft.com/office/drawing/2014/main" id="{B168F3AB-B56C-041D-7658-E18B6CD0B21D}"/>
              </a:ext>
            </a:extLst>
          </p:cNvPr>
          <p:cNvSpPr/>
          <p:nvPr/>
        </p:nvSpPr>
        <p:spPr>
          <a:xfrm>
            <a:off x="-3666204" y="-7241242"/>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25" name="Hình Bầu dục 24">
            <a:extLst>
              <a:ext uri="{FF2B5EF4-FFF2-40B4-BE49-F238E27FC236}">
                <a16:creationId xmlns:a16="http://schemas.microsoft.com/office/drawing/2014/main" id="{7D7ADE7E-6EB6-029F-B528-8F1DFDB8EADF}"/>
              </a:ext>
            </a:extLst>
          </p:cNvPr>
          <p:cNvSpPr/>
          <p:nvPr/>
        </p:nvSpPr>
        <p:spPr>
          <a:xfrm>
            <a:off x="-7990985" y="-7222953"/>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2" name="Đường kết nối Mũi tên Thẳng 31">
            <a:extLst>
              <a:ext uri="{FF2B5EF4-FFF2-40B4-BE49-F238E27FC236}">
                <a16:creationId xmlns:a16="http://schemas.microsoft.com/office/drawing/2014/main" id="{C11AD6EB-074E-B210-DFCD-832E2C9A221D}"/>
              </a:ext>
            </a:extLst>
          </p:cNvPr>
          <p:cNvCxnSpPr>
            <a:cxnSpLocks/>
            <a:stCxn id="25" idx="6"/>
            <a:endCxn id="24" idx="2"/>
          </p:cNvCxnSpPr>
          <p:nvPr/>
        </p:nvCxnSpPr>
        <p:spPr>
          <a:xfrm flipV="1">
            <a:off x="-5039265" y="-6525209"/>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33" name="Hình Bầu dục 32">
            <a:extLst>
              <a:ext uri="{FF2B5EF4-FFF2-40B4-BE49-F238E27FC236}">
                <a16:creationId xmlns:a16="http://schemas.microsoft.com/office/drawing/2014/main" id="{8C70D3AF-B227-60B2-DE31-D6939EC89E42}"/>
              </a:ext>
            </a:extLst>
          </p:cNvPr>
          <p:cNvSpPr/>
          <p:nvPr/>
        </p:nvSpPr>
        <p:spPr>
          <a:xfrm>
            <a:off x="451199" y="-7222953"/>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35" name="Đường kết nối Mũi tên Thẳng 34">
            <a:extLst>
              <a:ext uri="{FF2B5EF4-FFF2-40B4-BE49-F238E27FC236}">
                <a16:creationId xmlns:a16="http://schemas.microsoft.com/office/drawing/2014/main" id="{B7C7D85B-09F5-D8A8-1430-F3A212CD8DA3}"/>
              </a:ext>
            </a:extLst>
          </p:cNvPr>
          <p:cNvCxnSpPr>
            <a:cxnSpLocks/>
          </p:cNvCxnSpPr>
          <p:nvPr/>
        </p:nvCxnSpPr>
        <p:spPr>
          <a:xfrm flipV="1">
            <a:off x="-934872" y="-6543498"/>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37" name="Hộp Văn bản 36">
            <a:extLst>
              <a:ext uri="{FF2B5EF4-FFF2-40B4-BE49-F238E27FC236}">
                <a16:creationId xmlns:a16="http://schemas.microsoft.com/office/drawing/2014/main" id="{B3E0A3E3-731F-09CD-024C-D94F8798314C}"/>
              </a:ext>
            </a:extLst>
          </p:cNvPr>
          <p:cNvSpPr txBox="1"/>
          <p:nvPr/>
        </p:nvSpPr>
        <p:spPr>
          <a:xfrm>
            <a:off x="189542" y="18573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pic>
        <p:nvPicPr>
          <p:cNvPr id="38" name="Picture 7">
            <a:extLst>
              <a:ext uri="{FF2B5EF4-FFF2-40B4-BE49-F238E27FC236}">
                <a16:creationId xmlns:a16="http://schemas.microsoft.com/office/drawing/2014/main" id="{8229C077-4AA2-957C-2E5C-CCFE82FA40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3400" y="811624"/>
            <a:ext cx="7848600" cy="6045926"/>
          </a:xfrm>
          <a:prstGeom prst="rect">
            <a:avLst/>
          </a:prstGeom>
        </p:spPr>
      </p:pic>
    </p:spTree>
    <p:extLst>
      <p:ext uri="{BB962C8B-B14F-4D97-AF65-F5344CB8AC3E}">
        <p14:creationId xmlns:p14="http://schemas.microsoft.com/office/powerpoint/2010/main" val="3280698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CD268-6DC6-3B34-CF7C-207C697D20A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69ED8B5-03DC-BD8E-7AE6-270C331D4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688070" y="-197715"/>
            <a:ext cx="456387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6">
            <a:extLst>
              <a:ext uri="{FF2B5EF4-FFF2-40B4-BE49-F238E27FC236}">
                <a16:creationId xmlns:a16="http://schemas.microsoft.com/office/drawing/2014/main" id="{3B8F675E-A567-8279-8820-D37B51232E99}"/>
              </a:ext>
            </a:extLst>
          </p:cNvPr>
          <p:cNvSpPr txBox="1"/>
          <p:nvPr/>
        </p:nvSpPr>
        <p:spPr>
          <a:xfrm>
            <a:off x="3323765" y="-2139688"/>
            <a:ext cx="6229232" cy="745397"/>
          </a:xfrm>
          <a:prstGeom prst="rect">
            <a:avLst/>
          </a:prstGeom>
        </p:spPr>
        <p:txBody>
          <a:bodyPr wrap="square" lIns="0" tIns="0" rIns="0" bIns="0" rtlCol="0" anchor="t">
            <a:spAutoFit/>
          </a:bodyPr>
          <a:lstStyle/>
          <a:p>
            <a:pPr algn="ctr">
              <a:lnSpc>
                <a:spcPts val="6937"/>
              </a:lnSpc>
            </a:pPr>
            <a:r>
              <a:rPr lang="vi-VN" sz="2800" b="1" dirty="0">
                <a:solidFill>
                  <a:schemeClr val="bg1"/>
                </a:solidFill>
                <a:latin typeface="Arial Bold" panose="020B0704020202020204" pitchFamily="34" charset="0"/>
                <a:ea typeface="Arial Bold"/>
                <a:cs typeface="Arial Bold" panose="020B0704020202020204" pitchFamily="34" charset="0"/>
                <a:sym typeface="Arial Bold"/>
              </a:rPr>
              <a:t>Xây dựng hệ thống tưới cây tự động</a:t>
            </a:r>
            <a:endParaRPr lang="en-US" sz="2800" b="1" dirty="0">
              <a:solidFill>
                <a:schemeClr val="bg1"/>
              </a:solidFill>
              <a:latin typeface="Arial Bold" panose="020B0704020202020204" pitchFamily="34" charset="0"/>
              <a:ea typeface="Arial Bold"/>
              <a:cs typeface="Arial Bold" panose="020B0704020202020204" pitchFamily="34" charset="0"/>
              <a:sym typeface="Arial Bold"/>
            </a:endParaRPr>
          </a:p>
        </p:txBody>
      </p:sp>
      <p:sp>
        <p:nvSpPr>
          <p:cNvPr id="5" name="Hộp Văn bản 4">
            <a:extLst>
              <a:ext uri="{FF2B5EF4-FFF2-40B4-BE49-F238E27FC236}">
                <a16:creationId xmlns:a16="http://schemas.microsoft.com/office/drawing/2014/main" id="{6205FEBF-43A3-66D3-E062-15AB17B5CF81}"/>
              </a:ext>
            </a:extLst>
          </p:cNvPr>
          <p:cNvSpPr txBox="1"/>
          <p:nvPr/>
        </p:nvSpPr>
        <p:spPr>
          <a:xfrm>
            <a:off x="3803124" y="-1394291"/>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Học Phần: </a:t>
            </a:r>
            <a:r>
              <a:rPr lang="vi-VN" sz="2800" dirty="0" err="1">
                <a:solidFill>
                  <a:schemeClr val="bg1"/>
                </a:solidFill>
                <a:latin typeface="Arial Bold" panose="020B0704020202020204" pitchFamily="34" charset="0"/>
                <a:cs typeface="Arial Bold" panose="020B0704020202020204" pitchFamily="34" charset="0"/>
              </a:rPr>
              <a:t>Internet</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Of</a:t>
            </a:r>
            <a:r>
              <a:rPr lang="vi-VN" sz="2800" dirty="0">
                <a:solidFill>
                  <a:schemeClr val="bg1"/>
                </a:solidFill>
                <a:latin typeface="Arial Bold" panose="020B0704020202020204" pitchFamily="34" charset="0"/>
                <a:cs typeface="Arial Bold" panose="020B0704020202020204" pitchFamily="34" charset="0"/>
              </a:rPr>
              <a:t> </a:t>
            </a:r>
            <a:r>
              <a:rPr lang="vi-VN" sz="2800" dirty="0" err="1">
                <a:solidFill>
                  <a:schemeClr val="bg1"/>
                </a:solidFill>
                <a:latin typeface="Arial Bold" panose="020B0704020202020204" pitchFamily="34" charset="0"/>
                <a:cs typeface="Arial Bold" panose="020B0704020202020204" pitchFamily="34" charset="0"/>
              </a:rPr>
              <a:t>Things</a:t>
            </a:r>
            <a:endParaRPr lang="vi-VN" sz="2800" dirty="0">
              <a:solidFill>
                <a:schemeClr val="bg1"/>
              </a:solidFill>
              <a:latin typeface="Arial Bold" panose="020B0704020202020204" pitchFamily="34" charset="0"/>
              <a:cs typeface="Arial Bold" panose="020B0704020202020204" pitchFamily="34" charset="0"/>
            </a:endParaRPr>
          </a:p>
        </p:txBody>
      </p:sp>
      <p:sp>
        <p:nvSpPr>
          <p:cNvPr id="2" name="Hộp Văn bản 1">
            <a:extLst>
              <a:ext uri="{FF2B5EF4-FFF2-40B4-BE49-F238E27FC236}">
                <a16:creationId xmlns:a16="http://schemas.microsoft.com/office/drawing/2014/main" id="{AD64E464-5A83-4900-0DFE-2464DF964D5E}"/>
              </a:ext>
            </a:extLst>
          </p:cNvPr>
          <p:cNvSpPr txBox="1"/>
          <p:nvPr/>
        </p:nvSpPr>
        <p:spPr>
          <a:xfrm>
            <a:off x="-3607952" y="-3657600"/>
            <a:ext cx="5222240" cy="2677656"/>
          </a:xfrm>
          <a:prstGeom prst="rect">
            <a:avLst/>
          </a:prstGeom>
          <a:noFill/>
        </p:spPr>
        <p:txBody>
          <a:bodyPr wrap="square" rtlCol="0">
            <a:spAutoFit/>
          </a:bodyPr>
          <a:lstStyle/>
          <a:p>
            <a:pPr algn="just"/>
            <a:r>
              <a:rPr lang="en-US" sz="2400" b="1" dirty="0">
                <a:solidFill>
                  <a:schemeClr val="bg1"/>
                </a:solidFill>
                <a:latin typeface="Arial Bold"/>
                <a:ea typeface="Arial Bold"/>
                <a:cs typeface="Arial Bold"/>
                <a:sym typeface="Arial Bold"/>
              </a:rPr>
              <a:t>Ngô Hoài Nam </a:t>
            </a:r>
            <a:r>
              <a:rPr lang="en-US" sz="2400" b="1" dirty="0">
                <a:solidFill>
                  <a:schemeClr val="bg1"/>
                </a:solidFill>
                <a:latin typeface="Arial"/>
                <a:ea typeface="Arial Bold"/>
                <a:cs typeface="Arial"/>
                <a:sym typeface="Arial"/>
              </a:rPr>
              <a:t>-</a:t>
            </a:r>
            <a:r>
              <a:rPr lang="en-US" sz="2400" dirty="0">
                <a:solidFill>
                  <a:schemeClr val="bg1"/>
                </a:solidFill>
                <a:latin typeface="Arial"/>
                <a:ea typeface="Arial"/>
                <a:cs typeface="Arial"/>
                <a:sym typeface="Arial"/>
              </a:rPr>
              <a:t> 95947 </a:t>
            </a:r>
            <a:r>
              <a:rPr lang="en-US" sz="2400" b="1" dirty="0">
                <a:solidFill>
                  <a:schemeClr val="bg1"/>
                </a:solidFill>
                <a:latin typeface="Arial Bold"/>
                <a:ea typeface="Arial Bold"/>
                <a:cs typeface="Arial Bold"/>
                <a:sym typeface="Arial Bold"/>
              </a:rPr>
              <a:t>(NT)</a:t>
            </a:r>
          </a:p>
          <a:p>
            <a:pPr algn="just"/>
            <a:r>
              <a:rPr lang="en-US" sz="2400" dirty="0">
                <a:solidFill>
                  <a:schemeClr val="bg1"/>
                </a:solidFill>
                <a:latin typeface="Arial"/>
                <a:ea typeface="Arial"/>
                <a:cs typeface="Arial"/>
                <a:sym typeface="Arial"/>
              </a:rPr>
              <a:t> </a:t>
            </a:r>
          </a:p>
          <a:p>
            <a:pPr algn="just"/>
            <a:r>
              <a:rPr lang="vi-VN" sz="2400" b="1" dirty="0">
                <a:solidFill>
                  <a:schemeClr val="bg1"/>
                </a:solidFill>
                <a:latin typeface="Arial"/>
                <a:cs typeface="Arial"/>
                <a:sym typeface="Arial"/>
              </a:rPr>
              <a:t>Đỗ Phúc An </a:t>
            </a:r>
            <a:r>
              <a:rPr lang="vi-VN" sz="2400" dirty="0">
                <a:solidFill>
                  <a:schemeClr val="bg1"/>
                </a:solidFill>
                <a:latin typeface="Arial"/>
                <a:cs typeface="Arial"/>
                <a:sym typeface="Arial"/>
              </a:rPr>
              <a:t>- 95987</a:t>
            </a:r>
          </a:p>
          <a:p>
            <a:pPr algn="just"/>
            <a:endParaRPr lang="en-US" sz="2400" dirty="0">
              <a:solidFill>
                <a:schemeClr val="bg1"/>
              </a:solidFill>
              <a:latin typeface="Arial" panose="020B0604020202020204" pitchFamily="34" charset="0"/>
              <a:cs typeface="Arial" panose="020B0604020202020204" pitchFamily="34" charset="0"/>
            </a:endParaRPr>
          </a:p>
          <a:p>
            <a:pPr algn="just"/>
            <a:r>
              <a:rPr lang="en-US" sz="2400" b="1" dirty="0">
                <a:solidFill>
                  <a:schemeClr val="bg1"/>
                </a:solidFill>
                <a:latin typeface="Arial" panose="020B0604020202020204" pitchFamily="34" charset="0"/>
                <a:cs typeface="Arial" panose="020B0604020202020204" pitchFamily="34" charset="0"/>
              </a:rPr>
              <a:t>Mai </a:t>
            </a:r>
            <a:r>
              <a:rPr lang="vi-VN" sz="2400" b="1" dirty="0">
                <a:solidFill>
                  <a:schemeClr val="bg1"/>
                </a:solidFill>
                <a:latin typeface="Arial" panose="020B0604020202020204" pitchFamily="34" charset="0"/>
                <a:cs typeface="Arial" panose="020B0604020202020204" pitchFamily="34" charset="0"/>
              </a:rPr>
              <a:t>Xuân Tiếp </a:t>
            </a:r>
            <a:r>
              <a:rPr lang="vi-VN" sz="2400" dirty="0">
                <a:solidFill>
                  <a:schemeClr val="bg1"/>
                </a:solidFill>
                <a:latin typeface="Arial" panose="020B0604020202020204" pitchFamily="34" charset="0"/>
                <a:cs typeface="Arial" panose="020B0604020202020204" pitchFamily="34" charset="0"/>
              </a:rPr>
              <a:t>– 95323</a:t>
            </a:r>
          </a:p>
          <a:p>
            <a:pPr algn="just"/>
            <a:endParaRPr lang="vi-VN" sz="2400" b="1" dirty="0">
              <a:solidFill>
                <a:schemeClr val="bg1"/>
              </a:solidFill>
              <a:latin typeface="Arial" panose="020B0604020202020204" pitchFamily="34" charset="0"/>
              <a:cs typeface="Arial" panose="020B0604020202020204" pitchFamily="34" charset="0"/>
            </a:endParaRPr>
          </a:p>
          <a:p>
            <a:pPr algn="just"/>
            <a:r>
              <a:rPr lang="vi-VN" sz="2400" b="1" dirty="0">
                <a:solidFill>
                  <a:schemeClr val="bg1"/>
                </a:solidFill>
                <a:latin typeface="Arial" panose="020B0604020202020204" pitchFamily="34" charset="0"/>
                <a:cs typeface="Arial" panose="020B0604020202020204" pitchFamily="34" charset="0"/>
              </a:rPr>
              <a:t>Đào Đức An -</a:t>
            </a:r>
            <a:r>
              <a:rPr lang="vi-VN" sz="2400" dirty="0">
                <a:solidFill>
                  <a:schemeClr val="bg1"/>
                </a:solidFill>
                <a:latin typeface="Arial" panose="020B0604020202020204" pitchFamily="34" charset="0"/>
                <a:cs typeface="Arial" panose="020B0604020202020204" pitchFamily="34" charset="0"/>
              </a:rPr>
              <a:t> 95399</a:t>
            </a:r>
          </a:p>
        </p:txBody>
      </p:sp>
      <p:sp>
        <p:nvSpPr>
          <p:cNvPr id="3" name="Hộp Văn bản 2">
            <a:extLst>
              <a:ext uri="{FF2B5EF4-FFF2-40B4-BE49-F238E27FC236}">
                <a16:creationId xmlns:a16="http://schemas.microsoft.com/office/drawing/2014/main" id="{234A58DB-00C7-0C60-1AD6-974D0A8189C1}"/>
              </a:ext>
            </a:extLst>
          </p:cNvPr>
          <p:cNvSpPr txBox="1"/>
          <p:nvPr/>
        </p:nvSpPr>
        <p:spPr>
          <a:xfrm>
            <a:off x="2147086" y="-2318772"/>
            <a:ext cx="5222240" cy="461665"/>
          </a:xfrm>
          <a:prstGeom prst="rect">
            <a:avLst/>
          </a:prstGeom>
          <a:noFill/>
        </p:spPr>
        <p:txBody>
          <a:bodyPr wrap="square" rtlCol="0">
            <a:spAutoFit/>
          </a:bodyPr>
          <a:lstStyle/>
          <a:p>
            <a:r>
              <a:rPr lang="vi-VN" sz="2400" b="1" dirty="0">
                <a:solidFill>
                  <a:schemeClr val="bg1"/>
                </a:solidFill>
                <a:latin typeface="Arial Bold"/>
                <a:ea typeface="Arial Bold"/>
                <a:cs typeface="Arial Bold"/>
                <a:sym typeface="Arial Bold"/>
              </a:rPr>
              <a:t>Thành viên tham gia</a:t>
            </a:r>
            <a:endParaRPr lang="vi-VN" sz="2400" dirty="0">
              <a:solidFill>
                <a:schemeClr val="bg1"/>
              </a:solidFill>
              <a:latin typeface="Arial" panose="020B0604020202020204" pitchFamily="34" charset="0"/>
              <a:cs typeface="Arial" panose="020B0604020202020204" pitchFamily="34" charset="0"/>
            </a:endParaRPr>
          </a:p>
        </p:txBody>
      </p:sp>
      <p:sp>
        <p:nvSpPr>
          <p:cNvPr id="6" name="Hộp Văn bản 5">
            <a:extLst>
              <a:ext uri="{FF2B5EF4-FFF2-40B4-BE49-F238E27FC236}">
                <a16:creationId xmlns:a16="http://schemas.microsoft.com/office/drawing/2014/main" id="{E9DC1716-0431-C45D-A5D0-9FE8404FF793}"/>
              </a:ext>
            </a:extLst>
          </p:cNvPr>
          <p:cNvSpPr txBox="1"/>
          <p:nvPr/>
        </p:nvSpPr>
        <p:spPr>
          <a:xfrm>
            <a:off x="716280" y="-2318772"/>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Nội dung thuyết trình </a:t>
            </a:r>
          </a:p>
        </p:txBody>
      </p:sp>
      <p:sp>
        <p:nvSpPr>
          <p:cNvPr id="7" name="Hộp Văn bản 6">
            <a:extLst>
              <a:ext uri="{FF2B5EF4-FFF2-40B4-BE49-F238E27FC236}">
                <a16:creationId xmlns:a16="http://schemas.microsoft.com/office/drawing/2014/main" id="{F70E1C49-46A1-4DFB-B6EC-00831CC21249}"/>
              </a:ext>
            </a:extLst>
          </p:cNvPr>
          <p:cNvSpPr txBox="1"/>
          <p:nvPr/>
        </p:nvSpPr>
        <p:spPr>
          <a:xfrm>
            <a:off x="-14761015" y="811624"/>
            <a:ext cx="11767228" cy="830997"/>
          </a:xfrm>
          <a:prstGeom prst="rect">
            <a:avLst/>
          </a:prstGeom>
          <a:noFill/>
        </p:spPr>
        <p:txBody>
          <a:bodyPr wrap="square" rtlCol="0">
            <a:spAutoFit/>
          </a:bodyPr>
          <a:lstStyle/>
          <a:p>
            <a:pPr algn="ctr"/>
            <a:r>
              <a:rPr lang="vi-VN" sz="4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8" name="Hộp Văn bản 7">
            <a:extLst>
              <a:ext uri="{FF2B5EF4-FFF2-40B4-BE49-F238E27FC236}">
                <a16:creationId xmlns:a16="http://schemas.microsoft.com/office/drawing/2014/main" id="{7D35B0CA-A377-CC48-F39E-73B6534E0587}"/>
              </a:ext>
            </a:extLst>
          </p:cNvPr>
          <p:cNvSpPr txBox="1"/>
          <p:nvPr/>
        </p:nvSpPr>
        <p:spPr>
          <a:xfrm>
            <a:off x="-8877401" y="2554177"/>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2 : Thiết kế &amp; Xây dựng hệ thống  </a:t>
            </a:r>
          </a:p>
        </p:txBody>
      </p:sp>
      <p:sp>
        <p:nvSpPr>
          <p:cNvPr id="10" name="Hộp Văn bản 9">
            <a:extLst>
              <a:ext uri="{FF2B5EF4-FFF2-40B4-BE49-F238E27FC236}">
                <a16:creationId xmlns:a16="http://schemas.microsoft.com/office/drawing/2014/main" id="{584C80CD-4A68-D19A-85B8-95C12DE3B5E7}"/>
              </a:ext>
            </a:extLst>
          </p:cNvPr>
          <p:cNvSpPr txBox="1"/>
          <p:nvPr/>
        </p:nvSpPr>
        <p:spPr>
          <a:xfrm>
            <a:off x="-7917281" y="378060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sp>
        <p:nvSpPr>
          <p:cNvPr id="11" name="Hộp Văn bản 10">
            <a:extLst>
              <a:ext uri="{FF2B5EF4-FFF2-40B4-BE49-F238E27FC236}">
                <a16:creationId xmlns:a16="http://schemas.microsoft.com/office/drawing/2014/main" id="{4D54ECF0-065B-6563-3053-28213317E520}"/>
              </a:ext>
            </a:extLst>
          </p:cNvPr>
          <p:cNvSpPr txBox="1"/>
          <p:nvPr/>
        </p:nvSpPr>
        <p:spPr>
          <a:xfrm>
            <a:off x="3628802" y="-1634930"/>
            <a:ext cx="609600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1.1 Xác định mục tiêu bài toán </a:t>
            </a:r>
          </a:p>
        </p:txBody>
      </p:sp>
      <p:sp>
        <p:nvSpPr>
          <p:cNvPr id="12" name="Hộp Văn bản 11">
            <a:extLst>
              <a:ext uri="{FF2B5EF4-FFF2-40B4-BE49-F238E27FC236}">
                <a16:creationId xmlns:a16="http://schemas.microsoft.com/office/drawing/2014/main" id="{13434863-127F-4860-E8C8-F52D12C5C5C2}"/>
              </a:ext>
            </a:extLst>
          </p:cNvPr>
          <p:cNvSpPr txBox="1"/>
          <p:nvPr/>
        </p:nvSpPr>
        <p:spPr>
          <a:xfrm>
            <a:off x="-5406131" y="-2309599"/>
            <a:ext cx="6964877"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1.2 Xác định yêu cầu bài toán</a:t>
            </a:r>
          </a:p>
        </p:txBody>
      </p:sp>
      <p:sp>
        <p:nvSpPr>
          <p:cNvPr id="13" name="Hộp Văn bản 12">
            <a:extLst>
              <a:ext uri="{FF2B5EF4-FFF2-40B4-BE49-F238E27FC236}">
                <a16:creationId xmlns:a16="http://schemas.microsoft.com/office/drawing/2014/main" id="{855D833E-1AD5-2B54-CF1A-F3789B9A06A5}"/>
              </a:ext>
            </a:extLst>
          </p:cNvPr>
          <p:cNvSpPr txBox="1"/>
          <p:nvPr/>
        </p:nvSpPr>
        <p:spPr>
          <a:xfrm>
            <a:off x="3628802" y="-1272332"/>
            <a:ext cx="8945880"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chức năng đáp ứng yêu cầu bài toán</a:t>
            </a:r>
          </a:p>
        </p:txBody>
      </p:sp>
      <p:sp>
        <p:nvSpPr>
          <p:cNvPr id="14" name="Hộp Văn bản 13">
            <a:extLst>
              <a:ext uri="{FF2B5EF4-FFF2-40B4-BE49-F238E27FC236}">
                <a16:creationId xmlns:a16="http://schemas.microsoft.com/office/drawing/2014/main" id="{A780E9CD-5BAE-1CE1-4AD0-70642AE0564F}"/>
              </a:ext>
            </a:extLst>
          </p:cNvPr>
          <p:cNvSpPr txBox="1"/>
          <p:nvPr/>
        </p:nvSpPr>
        <p:spPr>
          <a:xfrm>
            <a:off x="-691472" y="-2108008"/>
            <a:ext cx="6964877" cy="954107"/>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1.3 Xác định các kịch bản có thể xảy ra</a:t>
            </a:r>
          </a:p>
          <a:p>
            <a:endParaRPr lang="vi-VN" sz="2800" dirty="0">
              <a:solidFill>
                <a:schemeClr val="bg1"/>
              </a:solidFill>
              <a:latin typeface="Arial Bold" panose="020B0704020202020204" pitchFamily="34" charset="0"/>
              <a:cs typeface="Arial Bold" panose="020B0704020202020204" pitchFamily="34" charset="0"/>
            </a:endParaRPr>
          </a:p>
        </p:txBody>
      </p:sp>
      <p:sp>
        <p:nvSpPr>
          <p:cNvPr id="16" name="Hộp Văn bản 15">
            <a:extLst>
              <a:ext uri="{FF2B5EF4-FFF2-40B4-BE49-F238E27FC236}">
                <a16:creationId xmlns:a16="http://schemas.microsoft.com/office/drawing/2014/main" id="{302C40A3-FC68-3830-97B7-027EAA92851C}"/>
              </a:ext>
            </a:extLst>
          </p:cNvPr>
          <p:cNvSpPr txBox="1"/>
          <p:nvPr/>
        </p:nvSpPr>
        <p:spPr>
          <a:xfrm>
            <a:off x="-1107590" y="-3127592"/>
            <a:ext cx="2134893"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2800" dirty="0">
                <a:solidFill>
                  <a:schemeClr val="tx1"/>
                </a:solidFill>
                <a:latin typeface="Arial Bold" panose="020B0704020202020204" pitchFamily="34" charset="0"/>
                <a:cs typeface="Arial Bold" panose="020B0704020202020204" pitchFamily="34" charset="0"/>
              </a:rPr>
              <a:t>Chức năng</a:t>
            </a:r>
          </a:p>
        </p:txBody>
      </p:sp>
      <p:sp>
        <p:nvSpPr>
          <p:cNvPr id="18" name="Hộp Văn bản 17">
            <a:extLst>
              <a:ext uri="{FF2B5EF4-FFF2-40B4-BE49-F238E27FC236}">
                <a16:creationId xmlns:a16="http://schemas.microsoft.com/office/drawing/2014/main" id="{F8B61DE4-6234-662F-F831-2A6B85945AA4}"/>
              </a:ext>
            </a:extLst>
          </p:cNvPr>
          <p:cNvSpPr txBox="1"/>
          <p:nvPr/>
        </p:nvSpPr>
        <p:spPr>
          <a:xfrm>
            <a:off x="3131786" y="-196133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thủ công (</a:t>
            </a:r>
            <a:r>
              <a:rPr lang="vi-VN" sz="2400" dirty="0" err="1">
                <a:solidFill>
                  <a:schemeClr val="tx1"/>
                </a:solidFill>
                <a:latin typeface="Arial Bold" panose="020B0704020202020204" pitchFamily="34" charset="0"/>
                <a:cs typeface="Arial Bold" panose="020B0704020202020204" pitchFamily="34" charset="0"/>
              </a:rPr>
              <a:t>Manual</a:t>
            </a:r>
            <a:r>
              <a:rPr lang="vi-VN" sz="2400" dirty="0">
                <a:solidFill>
                  <a:schemeClr val="tx1"/>
                </a:solidFill>
                <a:latin typeface="Arial Bold" panose="020B0704020202020204" pitchFamily="34" charset="0"/>
                <a:cs typeface="Arial Bold" panose="020B0704020202020204" pitchFamily="34" charset="0"/>
              </a:rPr>
              <a:t>)</a:t>
            </a:r>
          </a:p>
        </p:txBody>
      </p:sp>
      <p:sp>
        <p:nvSpPr>
          <p:cNvPr id="19" name="Hộp Văn bản 18">
            <a:extLst>
              <a:ext uri="{FF2B5EF4-FFF2-40B4-BE49-F238E27FC236}">
                <a16:creationId xmlns:a16="http://schemas.microsoft.com/office/drawing/2014/main" id="{2018F42D-8A9B-C2AD-A975-1AB32CD3E435}"/>
              </a:ext>
            </a:extLst>
          </p:cNvPr>
          <p:cNvSpPr txBox="1"/>
          <p:nvPr/>
        </p:nvSpPr>
        <p:spPr>
          <a:xfrm>
            <a:off x="2789226" y="-1080368"/>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tự </a:t>
            </a:r>
            <a:r>
              <a:rPr lang="vi-VN" sz="2400">
                <a:solidFill>
                  <a:schemeClr val="tx1"/>
                </a:solidFill>
                <a:latin typeface="Arial Bold" panose="020B0704020202020204" pitchFamily="34" charset="0"/>
                <a:cs typeface="Arial Bold" panose="020B0704020202020204" pitchFamily="34" charset="0"/>
              </a:rPr>
              <a:t>động (</a:t>
            </a:r>
            <a:r>
              <a:rPr lang="vi-VN" sz="2400" dirty="0" err="1">
                <a:solidFill>
                  <a:schemeClr val="tx1"/>
                </a:solidFill>
                <a:latin typeface="Arial Bold" panose="020B0704020202020204" pitchFamily="34" charset="0"/>
                <a:cs typeface="Arial Bold" panose="020B0704020202020204" pitchFamily="34" charset="0"/>
              </a:rPr>
              <a:t>Auto</a:t>
            </a:r>
            <a:r>
              <a:rPr lang="vi-VN" sz="2400" dirty="0">
                <a:solidFill>
                  <a:schemeClr val="tx1"/>
                </a:solidFill>
                <a:latin typeface="Arial Bold" panose="020B0704020202020204" pitchFamily="34" charset="0"/>
                <a:cs typeface="Arial Bold" panose="020B0704020202020204" pitchFamily="34" charset="0"/>
              </a:rPr>
              <a:t>)</a:t>
            </a:r>
          </a:p>
        </p:txBody>
      </p:sp>
      <p:sp>
        <p:nvSpPr>
          <p:cNvPr id="22" name="Hộp Văn bản 21">
            <a:extLst>
              <a:ext uri="{FF2B5EF4-FFF2-40B4-BE49-F238E27FC236}">
                <a16:creationId xmlns:a16="http://schemas.microsoft.com/office/drawing/2014/main" id="{B3935084-BE3A-D64B-B1FE-5606CBFD5242}"/>
              </a:ext>
            </a:extLst>
          </p:cNvPr>
          <p:cNvSpPr txBox="1"/>
          <p:nvPr/>
        </p:nvSpPr>
        <p:spPr>
          <a:xfrm>
            <a:off x="7982882" y="-1859676"/>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Tưới theo lịch định sẵn</a:t>
            </a:r>
          </a:p>
        </p:txBody>
      </p:sp>
      <p:sp>
        <p:nvSpPr>
          <p:cNvPr id="27" name="Hộp Văn bản 26">
            <a:extLst>
              <a:ext uri="{FF2B5EF4-FFF2-40B4-BE49-F238E27FC236}">
                <a16:creationId xmlns:a16="http://schemas.microsoft.com/office/drawing/2014/main" id="{D5B26070-B66A-6249-140D-7B79EB747016}"/>
              </a:ext>
            </a:extLst>
          </p:cNvPr>
          <p:cNvSpPr txBox="1"/>
          <p:nvPr/>
        </p:nvSpPr>
        <p:spPr>
          <a:xfrm>
            <a:off x="5935672" y="-2686267"/>
            <a:ext cx="4496336"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Điều chỉnh công suất bơm</a:t>
            </a:r>
          </a:p>
        </p:txBody>
      </p:sp>
      <p:sp>
        <p:nvSpPr>
          <p:cNvPr id="9" name="Hộp Văn bản 8">
            <a:extLst>
              <a:ext uri="{FF2B5EF4-FFF2-40B4-BE49-F238E27FC236}">
                <a16:creationId xmlns:a16="http://schemas.microsoft.com/office/drawing/2014/main" id="{608F37B0-B7A0-65BD-88F9-8B34872B9272}"/>
              </a:ext>
            </a:extLst>
          </p:cNvPr>
          <p:cNvSpPr txBox="1"/>
          <p:nvPr/>
        </p:nvSpPr>
        <p:spPr>
          <a:xfrm>
            <a:off x="-6001032" y="-2895596"/>
            <a:ext cx="7947852"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Các thiết bị như bộ cảm biến, l298N điều khiển </a:t>
            </a:r>
            <a:r>
              <a:rPr lang="vi-VN" sz="2400" b="1" dirty="0" err="1">
                <a:solidFill>
                  <a:schemeClr val="tx1"/>
                </a:solidFill>
                <a:latin typeface="Arial Bold" panose="020B0704020202020204" pitchFamily="34" charset="0"/>
                <a:cs typeface="Arial Bold" panose="020B0704020202020204" pitchFamily="34" charset="0"/>
              </a:rPr>
              <a:t>bơm,nút</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bấm,thời</a:t>
            </a:r>
            <a:r>
              <a:rPr lang="vi-VN" sz="2400" b="1" dirty="0">
                <a:solidFill>
                  <a:schemeClr val="tx1"/>
                </a:solidFill>
                <a:latin typeface="Arial Bold" panose="020B0704020202020204" pitchFamily="34" charset="0"/>
                <a:cs typeface="Arial Bold" panose="020B0704020202020204" pitchFamily="34" charset="0"/>
              </a:rPr>
              <a:t> gian thực… được nối trực tiếp với các chân của </a:t>
            </a:r>
            <a:r>
              <a:rPr lang="vi-VN" sz="2400" b="1" dirty="0" err="1">
                <a:solidFill>
                  <a:schemeClr val="tx1"/>
                </a:solidFill>
                <a:latin typeface="Arial Bold" panose="020B0704020202020204" pitchFamily="34" charset="0"/>
                <a:cs typeface="Arial Bold" panose="020B0704020202020204" pitchFamily="34" charset="0"/>
              </a:rPr>
              <a:t>UNO</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15" name="Hộp Văn bản 14">
            <a:extLst>
              <a:ext uri="{FF2B5EF4-FFF2-40B4-BE49-F238E27FC236}">
                <a16:creationId xmlns:a16="http://schemas.microsoft.com/office/drawing/2014/main" id="{6164E367-4C63-8D5E-9492-F8D32BE605B4}"/>
              </a:ext>
            </a:extLst>
          </p:cNvPr>
          <p:cNvSpPr txBox="1"/>
          <p:nvPr/>
        </p:nvSpPr>
        <p:spPr>
          <a:xfrm>
            <a:off x="0" y="3580548"/>
            <a:ext cx="409733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Giao diện người dùng</a:t>
            </a:r>
          </a:p>
        </p:txBody>
      </p:sp>
      <p:sp>
        <p:nvSpPr>
          <p:cNvPr id="17" name="Hộp Văn bản 16">
            <a:extLst>
              <a:ext uri="{FF2B5EF4-FFF2-40B4-BE49-F238E27FC236}">
                <a16:creationId xmlns:a16="http://schemas.microsoft.com/office/drawing/2014/main" id="{243C237E-6D4A-C06B-4F5E-7CBFBE8A6600}"/>
              </a:ext>
            </a:extLst>
          </p:cNvPr>
          <p:cNvSpPr txBox="1"/>
          <p:nvPr/>
        </p:nvSpPr>
        <p:spPr>
          <a:xfrm>
            <a:off x="6537559" y="-2607480"/>
            <a:ext cx="5213417"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Kiểm tra trạng thái bơm nước, điều chỉnh công suất bơm</a:t>
            </a:r>
          </a:p>
        </p:txBody>
      </p:sp>
      <p:sp>
        <p:nvSpPr>
          <p:cNvPr id="21" name="Hộp Văn bản 20">
            <a:extLst>
              <a:ext uri="{FF2B5EF4-FFF2-40B4-BE49-F238E27FC236}">
                <a16:creationId xmlns:a16="http://schemas.microsoft.com/office/drawing/2014/main" id="{1AA61275-9110-97FC-4572-DDA5F789C17E}"/>
              </a:ext>
            </a:extLst>
          </p:cNvPr>
          <p:cNvSpPr txBox="1"/>
          <p:nvPr/>
        </p:nvSpPr>
        <p:spPr>
          <a:xfrm>
            <a:off x="2934181" y="-3702987"/>
            <a:ext cx="5226549"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a:solidFill>
                  <a:schemeClr val="tx1"/>
                </a:solidFill>
                <a:latin typeface="Arial Bold" panose="020B0704020202020204" pitchFamily="34" charset="0"/>
                <a:cs typeface="Arial Bold" panose="020B0704020202020204" pitchFamily="34" charset="0"/>
              </a:rPr>
              <a:t>Tính toán thời gian tưới tiếp </a:t>
            </a:r>
            <a:r>
              <a:rPr lang="vi-VN" sz="2400" dirty="0" err="1">
                <a:solidFill>
                  <a:schemeClr val="tx1"/>
                </a:solidFill>
                <a:latin typeface="Arial Bold" panose="020B0704020202020204" pitchFamily="34" charset="0"/>
                <a:cs typeface="Arial Bold" panose="020B0704020202020204" pitchFamily="34" charset="0"/>
              </a:rPr>
              <a:t>theo,ngưỡng</a:t>
            </a:r>
            <a:r>
              <a:rPr lang="vi-VN" sz="2400" dirty="0">
                <a:solidFill>
                  <a:schemeClr val="tx1"/>
                </a:solidFill>
                <a:latin typeface="Arial Bold" panose="020B0704020202020204" pitchFamily="34" charset="0"/>
                <a:cs typeface="Arial Bold" panose="020B0704020202020204" pitchFamily="34" charset="0"/>
              </a:rPr>
              <a:t> tưới( min, </a:t>
            </a:r>
            <a:r>
              <a:rPr lang="vi-VN" sz="2400" dirty="0" err="1">
                <a:solidFill>
                  <a:schemeClr val="tx1"/>
                </a:solidFill>
                <a:latin typeface="Arial Bold" panose="020B0704020202020204" pitchFamily="34" charset="0"/>
                <a:cs typeface="Arial Bold" panose="020B0704020202020204" pitchFamily="34" charset="0"/>
              </a:rPr>
              <a:t>max</a:t>
            </a:r>
            <a:r>
              <a:rPr lang="vi-VN" sz="2400" dirty="0">
                <a:solidFill>
                  <a:schemeClr val="tx1"/>
                </a:solidFill>
                <a:latin typeface="Arial Bold" panose="020B0704020202020204" pitchFamily="34" charset="0"/>
                <a:cs typeface="Arial Bold" panose="020B0704020202020204" pitchFamily="34" charset="0"/>
              </a:rPr>
              <a:t>) thông minh</a:t>
            </a:r>
          </a:p>
        </p:txBody>
      </p:sp>
      <p:sp>
        <p:nvSpPr>
          <p:cNvPr id="23" name="Hộp Văn bản 22">
            <a:extLst>
              <a:ext uri="{FF2B5EF4-FFF2-40B4-BE49-F238E27FC236}">
                <a16:creationId xmlns:a16="http://schemas.microsoft.com/office/drawing/2014/main" id="{3078CD7D-24DF-EDA5-30EA-3C9C1EFE8139}"/>
              </a:ext>
            </a:extLst>
          </p:cNvPr>
          <p:cNvSpPr txBox="1"/>
          <p:nvPr/>
        </p:nvSpPr>
        <p:spPr>
          <a:xfrm>
            <a:off x="3974297" y="-2426997"/>
            <a:ext cx="6968148"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2.3 Mô tả các luồng dữ liệu hoạt động</a:t>
            </a:r>
          </a:p>
        </p:txBody>
      </p:sp>
      <p:sp>
        <p:nvSpPr>
          <p:cNvPr id="26" name="Hình Bầu dục 25">
            <a:extLst>
              <a:ext uri="{FF2B5EF4-FFF2-40B4-BE49-F238E27FC236}">
                <a16:creationId xmlns:a16="http://schemas.microsoft.com/office/drawing/2014/main" id="{3F6F767F-4918-DFA9-B403-42DFC78487ED}"/>
              </a:ext>
            </a:extLst>
          </p:cNvPr>
          <p:cNvSpPr/>
          <p:nvPr/>
        </p:nvSpPr>
        <p:spPr>
          <a:xfrm>
            <a:off x="-5067611" y="418904"/>
            <a:ext cx="2951720" cy="1432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400" b="1" dirty="0"/>
              <a:t>Các thiết bị phần cứng </a:t>
            </a:r>
          </a:p>
        </p:txBody>
      </p:sp>
      <p:sp>
        <p:nvSpPr>
          <p:cNvPr id="28" name="Hình Bầu dục 27">
            <a:extLst>
              <a:ext uri="{FF2B5EF4-FFF2-40B4-BE49-F238E27FC236}">
                <a16:creationId xmlns:a16="http://schemas.microsoft.com/office/drawing/2014/main" id="{7257CD4D-10E6-4C99-8BEB-A5B9A862B6D4}"/>
              </a:ext>
            </a:extLst>
          </p:cNvPr>
          <p:cNvSpPr/>
          <p:nvPr/>
        </p:nvSpPr>
        <p:spPr>
          <a:xfrm>
            <a:off x="-8074216" y="-1882761"/>
            <a:ext cx="2951720" cy="1432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400" b="1" dirty="0" err="1"/>
              <a:t>UNO</a:t>
            </a:r>
            <a:endParaRPr lang="vi-VN" sz="2400" b="1" dirty="0"/>
          </a:p>
        </p:txBody>
      </p:sp>
      <p:sp>
        <p:nvSpPr>
          <p:cNvPr id="29" name="Hình Bầu dục 28">
            <a:extLst>
              <a:ext uri="{FF2B5EF4-FFF2-40B4-BE49-F238E27FC236}">
                <a16:creationId xmlns:a16="http://schemas.microsoft.com/office/drawing/2014/main" id="{657CCB4F-C53B-77F4-B6E1-4FB834D91EB6}"/>
              </a:ext>
            </a:extLst>
          </p:cNvPr>
          <p:cNvSpPr/>
          <p:nvPr/>
        </p:nvSpPr>
        <p:spPr>
          <a:xfrm>
            <a:off x="-3529174" y="-1882761"/>
            <a:ext cx="2951720" cy="143206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vi-VN" sz="2400" b="1" dirty="0"/>
              <a:t>ESP32</a:t>
            </a:r>
          </a:p>
        </p:txBody>
      </p:sp>
      <p:sp>
        <p:nvSpPr>
          <p:cNvPr id="30" name="Hình Bầu dục 29">
            <a:extLst>
              <a:ext uri="{FF2B5EF4-FFF2-40B4-BE49-F238E27FC236}">
                <a16:creationId xmlns:a16="http://schemas.microsoft.com/office/drawing/2014/main" id="{30E866BA-8094-D9BF-636D-F2B18B11D3B7}"/>
              </a:ext>
            </a:extLst>
          </p:cNvPr>
          <p:cNvSpPr/>
          <p:nvPr/>
        </p:nvSpPr>
        <p:spPr>
          <a:xfrm>
            <a:off x="-1313189" y="-3736677"/>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31" name="Hình Bầu dục 30">
            <a:extLst>
              <a:ext uri="{FF2B5EF4-FFF2-40B4-BE49-F238E27FC236}">
                <a16:creationId xmlns:a16="http://schemas.microsoft.com/office/drawing/2014/main" id="{16E0F4B9-507E-6945-2691-BADD50F09868}"/>
              </a:ext>
            </a:extLst>
          </p:cNvPr>
          <p:cNvSpPr/>
          <p:nvPr/>
        </p:nvSpPr>
        <p:spPr>
          <a:xfrm>
            <a:off x="-5637970" y="-3718388"/>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4" name="Đường kết nối Mũi tên Thẳng 33">
            <a:extLst>
              <a:ext uri="{FF2B5EF4-FFF2-40B4-BE49-F238E27FC236}">
                <a16:creationId xmlns:a16="http://schemas.microsoft.com/office/drawing/2014/main" id="{B982F2BA-405A-43BE-296E-6A1972EBA0D2}"/>
              </a:ext>
            </a:extLst>
          </p:cNvPr>
          <p:cNvCxnSpPr>
            <a:cxnSpLocks/>
            <a:stCxn id="26" idx="4"/>
          </p:cNvCxnSpPr>
          <p:nvPr/>
        </p:nvCxnSpPr>
        <p:spPr>
          <a:xfrm>
            <a:off x="-3591751" y="1850970"/>
            <a:ext cx="0" cy="2150822"/>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6" name="Đường kết nối Mũi tên Thẳng 35">
            <a:extLst>
              <a:ext uri="{FF2B5EF4-FFF2-40B4-BE49-F238E27FC236}">
                <a16:creationId xmlns:a16="http://schemas.microsoft.com/office/drawing/2014/main" id="{E4E1058C-1D68-9CD6-F9A7-FB7F9384FC0D}"/>
              </a:ext>
            </a:extLst>
          </p:cNvPr>
          <p:cNvCxnSpPr>
            <a:cxnSpLocks/>
            <a:stCxn id="29" idx="2"/>
            <a:endCxn id="28" idx="6"/>
          </p:cNvCxnSpPr>
          <p:nvPr/>
        </p:nvCxnSpPr>
        <p:spPr>
          <a:xfrm flipH="1">
            <a:off x="-5122496" y="-1166728"/>
            <a:ext cx="159332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39" name="Đường kết nối Mũi tên Thẳng 38">
            <a:extLst>
              <a:ext uri="{FF2B5EF4-FFF2-40B4-BE49-F238E27FC236}">
                <a16:creationId xmlns:a16="http://schemas.microsoft.com/office/drawing/2014/main" id="{A1E6683A-855A-72DA-AC7D-5454349795DA}"/>
              </a:ext>
            </a:extLst>
          </p:cNvPr>
          <p:cNvCxnSpPr>
            <a:cxnSpLocks/>
            <a:endCxn id="29" idx="6"/>
          </p:cNvCxnSpPr>
          <p:nvPr/>
        </p:nvCxnSpPr>
        <p:spPr>
          <a:xfrm flipH="1">
            <a:off x="-577454" y="-1166728"/>
            <a:ext cx="1533992" cy="0"/>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42" name="Đường kết nối Mũi tên Thẳng 41">
            <a:extLst>
              <a:ext uri="{FF2B5EF4-FFF2-40B4-BE49-F238E27FC236}">
                <a16:creationId xmlns:a16="http://schemas.microsoft.com/office/drawing/2014/main" id="{2B0D7958-16E7-EC28-2A97-1BFE6AA3C019}"/>
              </a:ext>
            </a:extLst>
          </p:cNvPr>
          <p:cNvCxnSpPr>
            <a:cxnSpLocks/>
            <a:stCxn id="31" idx="6"/>
            <a:endCxn id="30" idx="2"/>
          </p:cNvCxnSpPr>
          <p:nvPr/>
        </p:nvCxnSpPr>
        <p:spPr>
          <a:xfrm flipV="1">
            <a:off x="-2686250" y="-3020644"/>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51" name="Hộp Văn bản 50">
            <a:extLst>
              <a:ext uri="{FF2B5EF4-FFF2-40B4-BE49-F238E27FC236}">
                <a16:creationId xmlns:a16="http://schemas.microsoft.com/office/drawing/2014/main" id="{A2F6D341-2338-5139-0266-238F8274E6A0}"/>
              </a:ext>
            </a:extLst>
          </p:cNvPr>
          <p:cNvSpPr txBox="1"/>
          <p:nvPr/>
        </p:nvSpPr>
        <p:spPr>
          <a:xfrm>
            <a:off x="-6461188" y="-2970685"/>
            <a:ext cx="809257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vi-VN" sz="2400" dirty="0" err="1">
                <a:solidFill>
                  <a:schemeClr val="tx1"/>
                </a:solidFill>
                <a:latin typeface="Arial Bold" panose="020B0704020202020204" pitchFamily="34" charset="0"/>
                <a:cs typeface="Arial Bold" panose="020B0704020202020204" pitchFamily="34" charset="0"/>
              </a:rPr>
              <a:t>UNO</a:t>
            </a:r>
            <a:r>
              <a:rPr lang="vi-VN" sz="2400" dirty="0">
                <a:solidFill>
                  <a:schemeClr val="tx1"/>
                </a:solidFill>
                <a:latin typeface="Arial Bold" panose="020B0704020202020204" pitchFamily="34" charset="0"/>
                <a:cs typeface="Arial Bold" panose="020B0704020202020204" pitchFamily="34" charset="0"/>
              </a:rPr>
              <a:t> và ESP32 kết nối với nhau để truyền nhận dữ liệu thông qua giao thức </a:t>
            </a:r>
            <a:r>
              <a:rPr lang="vi-VN" sz="2400" dirty="0" err="1">
                <a:solidFill>
                  <a:schemeClr val="tx1"/>
                </a:solidFill>
                <a:latin typeface="Arial Bold" panose="020B0704020202020204" pitchFamily="34" charset="0"/>
                <a:cs typeface="Arial Bold" panose="020B0704020202020204" pitchFamily="34" charset="0"/>
              </a:rPr>
              <a:t>Software</a:t>
            </a:r>
            <a:r>
              <a:rPr lang="vi-VN" sz="2400" dirty="0">
                <a:solidFill>
                  <a:schemeClr val="tx1"/>
                </a:solidFill>
                <a:latin typeface="Arial Bold" panose="020B0704020202020204" pitchFamily="34" charset="0"/>
                <a:cs typeface="Arial Bold" panose="020B0704020202020204" pitchFamily="34" charset="0"/>
              </a:rPr>
              <a:t> </a:t>
            </a:r>
            <a:r>
              <a:rPr lang="vi-VN" sz="2400" dirty="0" err="1">
                <a:solidFill>
                  <a:schemeClr val="tx1"/>
                </a:solidFill>
                <a:latin typeface="Arial Bold" panose="020B0704020202020204" pitchFamily="34" charset="0"/>
                <a:cs typeface="Arial Bold" panose="020B0704020202020204" pitchFamily="34" charset="0"/>
              </a:rPr>
              <a:t>UART</a:t>
            </a:r>
            <a:endParaRPr lang="vi-VN" sz="2400" dirty="0">
              <a:solidFill>
                <a:schemeClr val="tx1"/>
              </a:solidFill>
              <a:latin typeface="Arial Bold" panose="020B0704020202020204" pitchFamily="34" charset="0"/>
              <a:cs typeface="Arial Bold" panose="020B0704020202020204" pitchFamily="34" charset="0"/>
            </a:endParaRPr>
          </a:p>
        </p:txBody>
      </p:sp>
      <p:sp>
        <p:nvSpPr>
          <p:cNvPr id="53" name="Hộp Văn bản 52">
            <a:extLst>
              <a:ext uri="{FF2B5EF4-FFF2-40B4-BE49-F238E27FC236}">
                <a16:creationId xmlns:a16="http://schemas.microsoft.com/office/drawing/2014/main" id="{290962EB-06EA-8839-E85E-2490252AECA1}"/>
              </a:ext>
            </a:extLst>
          </p:cNvPr>
          <p:cNvSpPr txBox="1"/>
          <p:nvPr/>
        </p:nvSpPr>
        <p:spPr>
          <a:xfrm>
            <a:off x="-7276918" y="-5228767"/>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Giao diện người dùng (UI) gửi các yêu cầu thao tác như xem dữ liệu, điều khiển bơm, thay đổi chế độ hoạt động hoặc thiết lập lịch tưới thông qua các </a:t>
            </a:r>
            <a:r>
              <a:rPr lang="vi-VN" sz="2400" b="1" dirty="0" err="1">
                <a:solidFill>
                  <a:schemeClr val="tx1"/>
                </a:solidFill>
                <a:latin typeface="Arial Bold" panose="020B0704020202020204" pitchFamily="34" charset="0"/>
                <a:cs typeface="Arial Bold" panose="020B0704020202020204" pitchFamily="34" charset="0"/>
              </a:rPr>
              <a:t>API</a:t>
            </a:r>
            <a:r>
              <a:rPr lang="vi-VN" sz="2400" b="1" dirty="0">
                <a:solidFill>
                  <a:schemeClr val="tx1"/>
                </a:solidFill>
                <a:latin typeface="Arial Bold" panose="020B0704020202020204" pitchFamily="34" charset="0"/>
                <a:cs typeface="Arial Bold" panose="020B0704020202020204" pitchFamily="34" charset="0"/>
              </a:rPr>
              <a:t> của Server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a:t>
            </a:r>
            <a:r>
              <a:rPr lang="vi-VN" sz="2400" b="1" dirty="0" err="1">
                <a:solidFill>
                  <a:schemeClr val="tx1"/>
                </a:solidFill>
                <a:latin typeface="Arial Bold" panose="020B0704020202020204" pitchFamily="34" charset="0"/>
                <a:cs typeface="Arial Bold" panose="020B0704020202020204" pitchFamily="34" charset="0"/>
              </a:rPr>
              <a:t>POST</a:t>
            </a:r>
            <a:r>
              <a:rPr lang="vi-VN" sz="2400" b="1" dirty="0">
                <a:solidFill>
                  <a:schemeClr val="tx1"/>
                </a:solidFill>
                <a:latin typeface="Arial Bold" panose="020B0704020202020204" pitchFamily="34" charset="0"/>
                <a:cs typeface="Arial Bold" panose="020B0704020202020204" pitchFamily="34" charset="0"/>
              </a:rPr>
              <a:t>). Các yêu cầu này được Server tiếp nhận và xử lý theo </a:t>
            </a:r>
            <a:r>
              <a:rPr lang="vi-VN" sz="2400" b="1" dirty="0" err="1">
                <a:solidFill>
                  <a:schemeClr val="tx1"/>
                </a:solidFill>
                <a:latin typeface="Arial Bold" panose="020B0704020202020204" pitchFamily="34" charset="0"/>
                <a:cs typeface="Arial Bold" panose="020B0704020202020204" pitchFamily="34" charset="0"/>
              </a:rPr>
              <a:t>logic</a:t>
            </a:r>
            <a:r>
              <a:rPr lang="vi-VN" sz="2400" b="1" dirty="0">
                <a:solidFill>
                  <a:schemeClr val="tx1"/>
                </a:solidFill>
                <a:latin typeface="Arial Bold" panose="020B0704020202020204" pitchFamily="34" charset="0"/>
                <a:cs typeface="Arial Bold" panose="020B0704020202020204" pitchFamily="34" charset="0"/>
              </a:rPr>
              <a:t> hệ thống</a:t>
            </a:r>
          </a:p>
        </p:txBody>
      </p:sp>
      <p:sp>
        <p:nvSpPr>
          <p:cNvPr id="57" name="Hộp Văn bản 56">
            <a:extLst>
              <a:ext uri="{FF2B5EF4-FFF2-40B4-BE49-F238E27FC236}">
                <a16:creationId xmlns:a16="http://schemas.microsoft.com/office/drawing/2014/main" id="{8DE5F04C-ABB1-42EE-FFA2-05A4271B1C78}"/>
              </a:ext>
            </a:extLst>
          </p:cNvPr>
          <p:cNvSpPr txBox="1"/>
          <p:nvPr/>
        </p:nvSpPr>
        <p:spPr>
          <a:xfrm>
            <a:off x="-13824044" y="3988952"/>
            <a:ext cx="10699852"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Song </a:t>
            </a:r>
            <a:r>
              <a:rPr lang="vi-VN" sz="2400" b="1" dirty="0" err="1">
                <a:solidFill>
                  <a:schemeClr val="tx1"/>
                </a:solidFill>
                <a:latin typeface="Arial Bold" panose="020B0704020202020204" pitchFamily="34" charset="0"/>
                <a:cs typeface="Arial Bold" panose="020B0704020202020204" pitchFamily="34" charset="0"/>
              </a:rPr>
              <a:t>song</a:t>
            </a:r>
            <a:r>
              <a:rPr lang="vi-VN" sz="2400" b="1" dirty="0">
                <a:solidFill>
                  <a:schemeClr val="tx1"/>
                </a:solidFill>
                <a:latin typeface="Arial Bold" panose="020B0704020202020204" pitchFamily="34" charset="0"/>
                <a:cs typeface="Arial Bold" panose="020B0704020202020204" pitchFamily="34" charset="0"/>
              </a:rPr>
              <a:t> với đó, cứ mỗi 5 giây ESP32 sẽ gửi yêu cầu </a:t>
            </a:r>
            <a:r>
              <a:rPr lang="vi-VN" sz="2400" b="1" dirty="0" err="1">
                <a:solidFill>
                  <a:schemeClr val="tx1"/>
                </a:solidFill>
                <a:latin typeface="Arial Bold" panose="020B0704020202020204" pitchFamily="34" charset="0"/>
                <a:cs typeface="Arial Bold" panose="020B0704020202020204" pitchFamily="34" charset="0"/>
              </a:rPr>
              <a:t>HTTP</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GET</a:t>
            </a:r>
            <a:r>
              <a:rPr lang="vi-VN" sz="2400" b="1" dirty="0">
                <a:solidFill>
                  <a:schemeClr val="tx1"/>
                </a:solidFill>
                <a:latin typeface="Arial Bold" panose="020B0704020202020204" pitchFamily="34" charset="0"/>
                <a:cs typeface="Arial Bold" panose="020B0704020202020204" pitchFamily="34" charset="0"/>
              </a:rPr>
              <a:t> để lấy dữ liệu điều khiển từ Server. Dựa vào nội dung phản hồi, ESP32 phân tích lệnh và truyền lại cho </a:t>
            </a:r>
            <a:r>
              <a:rPr lang="vi-VN" sz="2400" b="1" dirty="0" err="1">
                <a:solidFill>
                  <a:schemeClr val="tx1"/>
                </a:solidFill>
                <a:latin typeface="Arial Bold" panose="020B0704020202020204" pitchFamily="34" charset="0"/>
                <a:cs typeface="Arial Bold" panose="020B0704020202020204" pitchFamily="34" charset="0"/>
              </a:rPr>
              <a:t>Arduino</a:t>
            </a:r>
            <a:r>
              <a:rPr lang="vi-VN" sz="2400" b="1" dirty="0">
                <a:solidFill>
                  <a:schemeClr val="tx1"/>
                </a:solidFill>
                <a:latin typeface="Arial Bold" panose="020B0704020202020204" pitchFamily="34" charset="0"/>
                <a:cs typeface="Arial Bold" panose="020B0704020202020204" pitchFamily="34" charset="0"/>
              </a:rPr>
              <a:t> </a:t>
            </a:r>
            <a:r>
              <a:rPr lang="vi-VN" sz="2400" b="1" dirty="0" err="1">
                <a:solidFill>
                  <a:schemeClr val="tx1"/>
                </a:solidFill>
                <a:latin typeface="Arial Bold" panose="020B0704020202020204" pitchFamily="34" charset="0"/>
                <a:cs typeface="Arial Bold" panose="020B0704020202020204" pitchFamily="34" charset="0"/>
              </a:rPr>
              <a:t>UNO</a:t>
            </a:r>
            <a:r>
              <a:rPr lang="vi-VN" sz="2400" b="1" dirty="0">
                <a:solidFill>
                  <a:schemeClr val="tx1"/>
                </a:solidFill>
                <a:latin typeface="Arial Bold" panose="020B0704020202020204" pitchFamily="34" charset="0"/>
                <a:cs typeface="Arial Bold" panose="020B0704020202020204" pitchFamily="34" charset="0"/>
              </a:rPr>
              <a:t> thông qua giao tiếp </a:t>
            </a:r>
            <a:r>
              <a:rPr lang="vi-VN" sz="2400" b="1" dirty="0" err="1">
                <a:solidFill>
                  <a:schemeClr val="tx1"/>
                </a:solidFill>
                <a:latin typeface="Arial Bold" panose="020B0704020202020204" pitchFamily="34" charset="0"/>
                <a:cs typeface="Arial Bold" panose="020B0704020202020204" pitchFamily="34" charset="0"/>
              </a:rPr>
              <a:t>Serial</a:t>
            </a:r>
            <a:r>
              <a:rPr lang="vi-VN" sz="2400" b="1" dirty="0">
                <a:solidFill>
                  <a:schemeClr val="tx1"/>
                </a:solidFill>
                <a:latin typeface="Arial Bold" panose="020B0704020202020204" pitchFamily="34" charset="0"/>
                <a:cs typeface="Arial Bold" panose="020B0704020202020204" pitchFamily="34" charset="0"/>
              </a:rPr>
              <a:t>, từ đó thực hiện các thao tác điều khiển như bật/tắt bơm, thay đổi chế độ hoạt động, điều chỉnh công suất và cập nhật lịch </a:t>
            </a:r>
            <a:r>
              <a:rPr lang="vi-VN" sz="2400" b="1" dirty="0" err="1">
                <a:solidFill>
                  <a:schemeClr val="tx1"/>
                </a:solidFill>
                <a:latin typeface="Arial Bold" panose="020B0704020202020204" pitchFamily="34" charset="0"/>
                <a:cs typeface="Arial Bold" panose="020B0704020202020204" pitchFamily="34" charset="0"/>
              </a:rPr>
              <a:t>tướ</a:t>
            </a:r>
            <a:endParaRPr lang="vi-VN" sz="2400" b="1" dirty="0">
              <a:solidFill>
                <a:schemeClr val="tx1"/>
              </a:solidFill>
              <a:latin typeface="Arial Bold" panose="020B0704020202020204" pitchFamily="34" charset="0"/>
              <a:cs typeface="Arial Bold" panose="020B0704020202020204" pitchFamily="34" charset="0"/>
            </a:endParaRPr>
          </a:p>
        </p:txBody>
      </p:sp>
      <p:sp>
        <p:nvSpPr>
          <p:cNvPr id="52" name="Hình Bầu dục 51">
            <a:extLst>
              <a:ext uri="{FF2B5EF4-FFF2-40B4-BE49-F238E27FC236}">
                <a16:creationId xmlns:a16="http://schemas.microsoft.com/office/drawing/2014/main" id="{AFDD02F5-017E-1F66-FA2F-1C6A15A417EE}"/>
              </a:ext>
            </a:extLst>
          </p:cNvPr>
          <p:cNvSpPr/>
          <p:nvPr/>
        </p:nvSpPr>
        <p:spPr>
          <a:xfrm>
            <a:off x="-2084363" y="-3637424"/>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54" name="Đường kết nối Mũi tên Thẳng 53">
            <a:extLst>
              <a:ext uri="{FF2B5EF4-FFF2-40B4-BE49-F238E27FC236}">
                <a16:creationId xmlns:a16="http://schemas.microsoft.com/office/drawing/2014/main" id="{DE2EADE5-93C8-5CC3-CC88-E72D63B82A07}"/>
              </a:ext>
            </a:extLst>
          </p:cNvPr>
          <p:cNvCxnSpPr>
            <a:cxnSpLocks/>
          </p:cNvCxnSpPr>
          <p:nvPr/>
        </p:nvCxnSpPr>
        <p:spPr>
          <a:xfrm flipV="1">
            <a:off x="1418143" y="-3038933"/>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pic>
        <p:nvPicPr>
          <p:cNvPr id="20482" name="Picture 2" descr="Render Secures $80M Series C Funding to Bring The Next Billion Applications  Online">
            <a:extLst>
              <a:ext uri="{FF2B5EF4-FFF2-40B4-BE49-F238E27FC236}">
                <a16:creationId xmlns:a16="http://schemas.microsoft.com/office/drawing/2014/main" id="{4A8DE065-96E8-1A04-3EE4-83DF1CCCAC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472" y="-4568502"/>
            <a:ext cx="5429082" cy="4303823"/>
          </a:xfrm>
          <a:prstGeom prst="rect">
            <a:avLst/>
          </a:prstGeom>
          <a:noFill/>
          <a:extLst>
            <a:ext uri="{909E8E84-426E-40DD-AFC4-6F175D3DCCD1}">
              <a14:hiddenFill xmlns:a14="http://schemas.microsoft.com/office/drawing/2010/main">
                <a:solidFill>
                  <a:srgbClr val="FFFFFF"/>
                </a:solidFill>
              </a14:hiddenFill>
            </a:ext>
          </a:extLst>
        </p:spPr>
      </p:pic>
      <p:sp>
        <p:nvSpPr>
          <p:cNvPr id="20" name="Hộp Văn bản 19">
            <a:extLst>
              <a:ext uri="{FF2B5EF4-FFF2-40B4-BE49-F238E27FC236}">
                <a16:creationId xmlns:a16="http://schemas.microsoft.com/office/drawing/2014/main" id="{DBFCE887-6D57-F64B-F432-F90915685806}"/>
              </a:ext>
            </a:extLst>
          </p:cNvPr>
          <p:cNvSpPr txBox="1"/>
          <p:nvPr/>
        </p:nvSpPr>
        <p:spPr>
          <a:xfrm>
            <a:off x="-7276918" y="-3339007"/>
            <a:ext cx="10015913"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vi-VN" sz="2400" b="1" dirty="0">
                <a:solidFill>
                  <a:schemeClr val="tx1"/>
                </a:solidFill>
                <a:latin typeface="Arial Bold" panose="020B0704020202020204" pitchFamily="34" charset="0"/>
                <a:cs typeface="Arial Bold" panose="020B0704020202020204" pitchFamily="34" charset="0"/>
              </a:rPr>
              <a:t>Server truy vấn dữ liệu từ </a:t>
            </a:r>
            <a:r>
              <a:rPr lang="vi-VN" sz="2400" b="1" dirty="0" err="1">
                <a:solidFill>
                  <a:schemeClr val="tx1"/>
                </a:solidFill>
                <a:latin typeface="Arial Bold" panose="020B0704020202020204" pitchFamily="34" charset="0"/>
                <a:cs typeface="Arial Bold" panose="020B0704020202020204" pitchFamily="34" charset="0"/>
              </a:rPr>
              <a:t>Database</a:t>
            </a:r>
            <a:r>
              <a:rPr lang="vi-VN" sz="2400" b="1" dirty="0">
                <a:solidFill>
                  <a:schemeClr val="tx1"/>
                </a:solidFill>
                <a:latin typeface="Arial Bold" panose="020B0704020202020204" pitchFamily="34" charset="0"/>
                <a:cs typeface="Arial Bold" panose="020B0704020202020204" pitchFamily="34" charset="0"/>
              </a:rPr>
              <a:t> hoặc lấy dữ liệu trạng thái hiện tại, sau đó trả kết quả về cho UI. UI hiển thị dữ liệu cho người dùng theo thời gian thực, giúp người dùng theo dõi và điều khiển hệ thống từ xa</a:t>
            </a:r>
          </a:p>
        </p:txBody>
      </p:sp>
      <p:sp>
        <p:nvSpPr>
          <p:cNvPr id="24" name="Hình Bầu dục 23">
            <a:extLst>
              <a:ext uri="{FF2B5EF4-FFF2-40B4-BE49-F238E27FC236}">
                <a16:creationId xmlns:a16="http://schemas.microsoft.com/office/drawing/2014/main" id="{7BB868DA-F91D-57DA-228E-DEBB73FE3BB9}"/>
              </a:ext>
            </a:extLst>
          </p:cNvPr>
          <p:cNvSpPr/>
          <p:nvPr/>
        </p:nvSpPr>
        <p:spPr>
          <a:xfrm>
            <a:off x="-3666204" y="-7241242"/>
            <a:ext cx="2909552" cy="143206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vi-VN" sz="2400" b="1" dirty="0"/>
              <a:t>SERVER</a:t>
            </a:r>
          </a:p>
        </p:txBody>
      </p:sp>
      <p:sp>
        <p:nvSpPr>
          <p:cNvPr id="25" name="Hình Bầu dục 24">
            <a:extLst>
              <a:ext uri="{FF2B5EF4-FFF2-40B4-BE49-F238E27FC236}">
                <a16:creationId xmlns:a16="http://schemas.microsoft.com/office/drawing/2014/main" id="{3168C0C0-75E8-AD31-7AE9-983F7F20C035}"/>
              </a:ext>
            </a:extLst>
          </p:cNvPr>
          <p:cNvSpPr/>
          <p:nvPr/>
        </p:nvSpPr>
        <p:spPr>
          <a:xfrm>
            <a:off x="-7990985" y="-7222953"/>
            <a:ext cx="2951720" cy="1432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vi-VN" sz="2400" b="1"/>
              <a:t>UI</a:t>
            </a:r>
            <a:endParaRPr lang="vi-VN" sz="2400" b="1" dirty="0"/>
          </a:p>
        </p:txBody>
      </p:sp>
      <p:cxnSp>
        <p:nvCxnSpPr>
          <p:cNvPr id="32" name="Đường kết nối Mũi tên Thẳng 31">
            <a:extLst>
              <a:ext uri="{FF2B5EF4-FFF2-40B4-BE49-F238E27FC236}">
                <a16:creationId xmlns:a16="http://schemas.microsoft.com/office/drawing/2014/main" id="{207A569C-9D03-D288-BC45-DF08C3354964}"/>
              </a:ext>
            </a:extLst>
          </p:cNvPr>
          <p:cNvCxnSpPr>
            <a:cxnSpLocks/>
            <a:stCxn id="25" idx="6"/>
            <a:endCxn id="24" idx="2"/>
          </p:cNvCxnSpPr>
          <p:nvPr/>
        </p:nvCxnSpPr>
        <p:spPr>
          <a:xfrm flipV="1">
            <a:off x="-5039265" y="-6525209"/>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33" name="Hình Bầu dục 32">
            <a:extLst>
              <a:ext uri="{FF2B5EF4-FFF2-40B4-BE49-F238E27FC236}">
                <a16:creationId xmlns:a16="http://schemas.microsoft.com/office/drawing/2014/main" id="{11FBE9AB-6505-060A-B7FB-CBB3CC584927}"/>
              </a:ext>
            </a:extLst>
          </p:cNvPr>
          <p:cNvSpPr/>
          <p:nvPr/>
        </p:nvSpPr>
        <p:spPr>
          <a:xfrm>
            <a:off x="451199" y="-7222953"/>
            <a:ext cx="2909552" cy="1432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vi-VN" sz="2400" b="1" dirty="0" err="1"/>
              <a:t>DATABASE</a:t>
            </a:r>
            <a:endParaRPr lang="vi-VN" sz="2400" b="1" dirty="0"/>
          </a:p>
        </p:txBody>
      </p:sp>
      <p:cxnSp>
        <p:nvCxnSpPr>
          <p:cNvPr id="35" name="Đường kết nối Mũi tên Thẳng 34">
            <a:extLst>
              <a:ext uri="{FF2B5EF4-FFF2-40B4-BE49-F238E27FC236}">
                <a16:creationId xmlns:a16="http://schemas.microsoft.com/office/drawing/2014/main" id="{B13556DF-3028-1978-F016-821B98E4C82C}"/>
              </a:ext>
            </a:extLst>
          </p:cNvPr>
          <p:cNvCxnSpPr>
            <a:cxnSpLocks/>
          </p:cNvCxnSpPr>
          <p:nvPr/>
        </p:nvCxnSpPr>
        <p:spPr>
          <a:xfrm flipV="1">
            <a:off x="-934872" y="-6543498"/>
            <a:ext cx="1373061" cy="1828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sp>
        <p:nvSpPr>
          <p:cNvPr id="37" name="Hộp Văn bản 36">
            <a:extLst>
              <a:ext uri="{FF2B5EF4-FFF2-40B4-BE49-F238E27FC236}">
                <a16:creationId xmlns:a16="http://schemas.microsoft.com/office/drawing/2014/main" id="{B2D6601E-FF39-6DD7-A087-238617247ED6}"/>
              </a:ext>
            </a:extLst>
          </p:cNvPr>
          <p:cNvSpPr txBox="1"/>
          <p:nvPr/>
        </p:nvSpPr>
        <p:spPr>
          <a:xfrm>
            <a:off x="189542" y="185733"/>
            <a:ext cx="7490562" cy="523220"/>
          </a:xfrm>
          <a:prstGeom prst="rect">
            <a:avLst/>
          </a:prstGeom>
          <a:noFill/>
        </p:spPr>
        <p:txBody>
          <a:bodyPr wrap="square" rtlCol="0">
            <a:spAutoFit/>
          </a:bodyPr>
          <a:lstStyle/>
          <a:p>
            <a:r>
              <a:rPr lang="vi-VN" sz="2800" dirty="0">
                <a:solidFill>
                  <a:schemeClr val="bg1"/>
                </a:solidFill>
                <a:latin typeface="Arial Bold" panose="020B0704020202020204" pitchFamily="34" charset="0"/>
                <a:cs typeface="Arial Bold" panose="020B0704020202020204" pitchFamily="34" charset="0"/>
              </a:rPr>
              <a:t>Phần 3 : Đánh giá &amp; Tổng kết thực nghiệm  </a:t>
            </a:r>
          </a:p>
        </p:txBody>
      </p:sp>
      <p:pic>
        <p:nvPicPr>
          <p:cNvPr id="41" name="Hình ảnh 40" descr="Ảnh có chứa văn bản, phần mềm, số, Hệ điều hành&#10;&#10;Nội dung do AI tạo ra có thể không chính xác.">
            <a:extLst>
              <a:ext uri="{FF2B5EF4-FFF2-40B4-BE49-F238E27FC236}">
                <a16:creationId xmlns:a16="http://schemas.microsoft.com/office/drawing/2014/main" id="{F592CCD6-C46D-8E0E-B6D2-B7430BAB756E}"/>
              </a:ext>
            </a:extLst>
          </p:cNvPr>
          <p:cNvPicPr>
            <a:picLocks noChangeAspect="1"/>
          </p:cNvPicPr>
          <p:nvPr/>
        </p:nvPicPr>
        <p:blipFill>
          <a:blip r:embed="rId5"/>
          <a:stretch>
            <a:fillRect/>
          </a:stretch>
        </p:blipFill>
        <p:spPr>
          <a:xfrm>
            <a:off x="4377651" y="720931"/>
            <a:ext cx="7814349" cy="6137069"/>
          </a:xfrm>
          <a:prstGeom prst="rect">
            <a:avLst/>
          </a:prstGeom>
        </p:spPr>
      </p:pic>
    </p:spTree>
    <p:extLst>
      <p:ext uri="{BB962C8B-B14F-4D97-AF65-F5344CB8AC3E}">
        <p14:creationId xmlns:p14="http://schemas.microsoft.com/office/powerpoint/2010/main" val="864338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6701</Words>
  <Application>Microsoft Office PowerPoint</Application>
  <PresentationFormat>Màn hình rộng</PresentationFormat>
  <Paragraphs>824</Paragraphs>
  <Slides>29</Slides>
  <Notes>6</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29</vt:i4>
      </vt:variant>
    </vt:vector>
  </HeadingPairs>
  <TitlesOfParts>
    <vt:vector size="33" baseType="lpstr">
      <vt:lpstr>Arial</vt:lpstr>
      <vt:lpstr>Arial Bold</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 tiep</dc:creator>
  <cp:lastModifiedBy>mai tiep</cp:lastModifiedBy>
  <cp:revision>3</cp:revision>
  <dcterms:created xsi:type="dcterms:W3CDTF">2025-12-22T14:15:03Z</dcterms:created>
  <dcterms:modified xsi:type="dcterms:W3CDTF">2025-12-23T14:52:18Z</dcterms:modified>
</cp:coreProperties>
</file>